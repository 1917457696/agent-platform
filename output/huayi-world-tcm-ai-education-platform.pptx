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7C58F"/>
                </a:solidFill>
                <a:latin typeface="Microsoft YaHei"/>
              </a:rPr>
              <a:t>华医世界 · 中医课程 AI 产品方案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9260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D7C58F"/>
                </a:solidFill>
                <a:latin typeface="Microsoft Ya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7C58F"/>
                </a:solidFill>
                <a:latin typeface="Microsoft YaHei"/>
              </a:rPr>
              <a:t>面试方案 · 2026.10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245352"/>
            <a:ext cx="11183112" cy="0"/>
          </a:xfrm>
          <a:prstGeom prst="line">
            <a:avLst/>
          </a:prstGeom>
          <a:ln w="8890">
            <a:solidFill>
              <a:srgbClr val="4C6C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13232" y="1078992"/>
            <a:ext cx="585216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FFFDF8"/>
                </a:solidFill>
                <a:latin typeface="Microsoft YaHei"/>
              </a:rPr>
              <a:t>中医课程
AI 教学平台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944368"/>
            <a:ext cx="6126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C7D6CC"/>
                </a:solidFill>
                <a:latin typeface="Microsoft YaHei"/>
              </a:rPr>
              <a:t>从课程内容，到会讲解、会出题、会陪练、会反馈的学习服务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078992"/>
            <a:ext cx="3383280" cy="3474720"/>
          </a:xfrm>
          <a:prstGeom prst="roundRect">
            <a:avLst/>
          </a:prstGeom>
          <a:solidFill>
            <a:srgbClr val="1E5A4A"/>
          </a:solidFill>
          <a:ln w="10160">
            <a:solidFill>
              <a:srgbClr val="356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366760" y="1627632"/>
            <a:ext cx="530352" cy="530352"/>
          </a:xfrm>
          <a:prstGeom prst="ellipse">
            <a:avLst/>
          </a:prstGeom>
          <a:solidFill>
            <a:srgbClr val="C85D48"/>
          </a:solidFill>
          <a:ln>
            <a:solidFill>
              <a:srgbClr val="C85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1723095"/>
            <a:ext cx="530352" cy="3182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DF8"/>
                </a:solidFill>
                <a:latin typeface="Microsoft YaHei"/>
              </a:rPr>
              <a:t>课</a:t>
            </a:r>
          </a:p>
        </p:txBody>
      </p:sp>
      <p:sp>
        <p:nvSpPr>
          <p:cNvPr id="11" name="Oval 10"/>
          <p:cNvSpPr/>
          <p:nvPr/>
        </p:nvSpPr>
        <p:spPr>
          <a:xfrm>
            <a:off x="9966960" y="2423160"/>
            <a:ext cx="530352" cy="530352"/>
          </a:xfrm>
          <a:prstGeom prst="ellipse">
            <a:avLst/>
          </a:prstGeom>
          <a:solidFill>
            <a:srgbClr val="D7C58F"/>
          </a:solidFill>
          <a:ln>
            <a:solidFill>
              <a:srgbClr val="D7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60" y="2518623"/>
            <a:ext cx="530352" cy="3182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103A32"/>
                </a:solidFill>
                <a:latin typeface="Microsoft YaHei"/>
              </a:rPr>
              <a:t>练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0" y="3236976"/>
            <a:ext cx="530352" cy="530352"/>
          </a:xfrm>
          <a:prstGeom prst="ellipse">
            <a:avLst/>
          </a:prstGeom>
          <a:solidFill>
            <a:srgbClr val="6D9B86"/>
          </a:solidFill>
          <a:ln>
            <a:solidFill>
              <a:srgbClr val="6D9B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3332439"/>
            <a:ext cx="530352" cy="3182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 i="0">
                <a:solidFill>
                  <a:srgbClr val="FFFDF8"/>
                </a:solidFill>
                <a:latin typeface="Microsoft YaHei"/>
              </a:rPr>
              <a:t>评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97112" y="1892807"/>
            <a:ext cx="1069848" cy="786385"/>
          </a:xfrm>
          <a:prstGeom prst="line">
            <a:avLst/>
          </a:prstGeom>
          <a:ln w="17780">
            <a:solidFill>
              <a:srgbClr val="D7C5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8897112" y="2953512"/>
            <a:ext cx="1069848" cy="548640"/>
          </a:xfrm>
          <a:prstGeom prst="line">
            <a:avLst/>
          </a:prstGeom>
          <a:ln w="17780">
            <a:solidFill>
              <a:srgbClr val="D7C5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366760" y="2157984"/>
            <a:ext cx="0" cy="1078992"/>
          </a:xfrm>
          <a:prstGeom prst="line">
            <a:avLst/>
          </a:prstGeom>
          <a:ln w="17780">
            <a:solidFill>
              <a:srgbClr val="D7C5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098280" y="1719072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DF8"/>
                </a:solidFill>
                <a:latin typeface="Microsoft YaHei"/>
              </a:rPr>
              <a:t>课程讲解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79608" y="2523744"/>
            <a:ext cx="1097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DF8"/>
                </a:solidFill>
                <a:latin typeface="Microsoft YaHei"/>
              </a:rPr>
              <a:t>医案陪练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3328416"/>
            <a:ext cx="1554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FFFDF8"/>
                </a:solidFill>
                <a:latin typeface="Microsoft YaHei"/>
              </a:rPr>
              <a:t>学习反馈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83296" y="415137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1">
                <a:solidFill>
                  <a:srgbClr val="D7C58F"/>
                </a:solidFill>
                <a:latin typeface="Microsoft YaHei"/>
              </a:rPr>
              <a:t>问诊不是产品全部，而是临床思维训练模块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C85D48"/>
                </a:solidFill>
                <a:latin typeface="Microsoft YaHei"/>
              </a:rPr>
              <a:t>华医世界 · 中医课程 AI 产品方案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9260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6D7B73"/>
                </a:solidFill>
                <a:latin typeface="Microsoft YaHe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6D7B73"/>
                </a:solidFill>
                <a:latin typeface="Microsoft YaHei"/>
              </a:rPr>
              <a:t>01 · 产品判断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245352"/>
            <a:ext cx="11183112" cy="0"/>
          </a:xfrm>
          <a:prstGeom prst="line">
            <a:avLst/>
          </a:prstGeom>
          <a:ln w="8890">
            <a:solidFill>
              <a:srgbClr val="D8D1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868680"/>
            <a:ext cx="749807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93630"/>
                </a:solidFill>
                <a:latin typeface="Microsoft YaHei"/>
              </a:rPr>
              <a:t>课程不是一段视频，
也不是一个聊天框。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883664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D7B73"/>
                </a:solidFill>
                <a:latin typeface="Microsoft YaHei"/>
              </a:rPr>
              <a:t>中医教培的价值，应该从“看过”变成“学会、练会、能复盘”。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889504"/>
            <a:ext cx="3429000" cy="2121408"/>
          </a:xfrm>
          <a:prstGeom prst="rect">
            <a:avLst/>
          </a:prstGeom>
          <a:solidFill>
            <a:srgbClr val="FBF8EF"/>
          </a:solidFill>
          <a:ln w="10160">
            <a:solidFill>
              <a:srgbClr val="D8D1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9981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85D48"/>
                </a:solidFill>
                <a:latin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75304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93630"/>
                </a:solidFill>
                <a:latin typeface="Microsoft YaHei"/>
              </a:rPr>
              <a:t>内容很多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59936"/>
            <a:ext cx="2880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D7B73"/>
                </a:solidFill>
                <a:latin typeface="Microsoft YaHei"/>
              </a:rPr>
              <a:t>课程、医案、老师经验分散在视频、讲义和社群里，学员学完难以形成自己的知识结构。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62272" y="2889504"/>
            <a:ext cx="3429000" cy="2121408"/>
          </a:xfrm>
          <a:prstGeom prst="rect">
            <a:avLst/>
          </a:prstGeom>
          <a:solidFill>
            <a:srgbClr val="FBF8EF"/>
          </a:solidFill>
          <a:ln w="10160">
            <a:solidFill>
              <a:srgbClr val="D8D1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309981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85D48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3575304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93630"/>
                </a:solidFill>
                <a:latin typeface="Microsoft YaHei"/>
              </a:rPr>
              <a:t>问题重复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4059936"/>
            <a:ext cx="2880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D7B73"/>
                </a:solidFill>
                <a:latin typeface="Microsoft YaHei"/>
              </a:rPr>
              <a:t>班主任和老师反复回答同一类问题，真正需要人工判断的高价值问题反而被淹没。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11311" y="2889504"/>
            <a:ext cx="3429000" cy="2121408"/>
          </a:xfrm>
          <a:prstGeom prst="rect">
            <a:avLst/>
          </a:prstGeom>
          <a:solidFill>
            <a:srgbClr val="FBF8EF"/>
          </a:solidFill>
          <a:ln w="10160">
            <a:solidFill>
              <a:srgbClr val="D8D1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3099816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85D48"/>
                </a:solidFill>
                <a:latin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575304"/>
            <a:ext cx="28346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93630"/>
                </a:solidFill>
                <a:latin typeface="Microsoft YaHei"/>
              </a:rPr>
              <a:t>学习断点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4059936"/>
            <a:ext cx="2880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D7B73"/>
                </a:solidFill>
                <a:latin typeface="Microsoft YaHei"/>
              </a:rPr>
              <a:t>学员看完课后缺少练习、反馈和下一步路径，不知道自己到底卡在哪里。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413248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85D48"/>
                </a:solidFill>
                <a:latin typeface="Microsoft YaHei"/>
              </a:rPr>
              <a:t>产品机会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394960"/>
            <a:ext cx="8046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93630"/>
                </a:solidFill>
                <a:latin typeface="Microsoft YaHei"/>
              </a:rPr>
              <a:t>把一门课程升级为可互动、可练习、可追踪的 AI 学习服务。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7C58F"/>
                </a:solidFill>
                <a:latin typeface="Microsoft YaHei"/>
              </a:rPr>
              <a:t>华医世界 · 中医课程 AI 产品方案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9260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D7C58F"/>
                </a:solidFill>
                <a:latin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7C58F"/>
                </a:solidFill>
                <a:latin typeface="Microsoft YaHei"/>
              </a:rPr>
              <a:t>02 · 双产品架构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245352"/>
            <a:ext cx="11183112" cy="0"/>
          </a:xfrm>
          <a:prstGeom prst="line">
            <a:avLst/>
          </a:prstGeom>
          <a:ln w="8890">
            <a:solidFill>
              <a:srgbClr val="4C6C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868680"/>
            <a:ext cx="749807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DF8"/>
                </a:solidFill>
                <a:latin typeface="Microsoft YaHei"/>
              </a:rPr>
              <a:t>一条课程主线，两个学习场景。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883664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C7D6CC"/>
                </a:solidFill>
                <a:latin typeface="Microsoft YaHei"/>
              </a:rPr>
              <a:t>课程 AI 教学平台是产品本体；医案/问诊陪练是其中一个高价值训练模块。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97480"/>
            <a:ext cx="10698480" cy="713232"/>
          </a:xfrm>
          <a:prstGeom prst="roundRect">
            <a:avLst/>
          </a:prstGeom>
          <a:solidFill>
            <a:srgbClr val="1E5A4A"/>
          </a:solidFill>
          <a:ln w="10160">
            <a:solidFill>
              <a:srgbClr val="477A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889504"/>
            <a:ext cx="12344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D7C58F"/>
                </a:solidFill>
                <a:latin typeface="Microsoft YaHei"/>
              </a:rPr>
              <a:t>课程内容层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889504"/>
            <a:ext cx="7132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FFDF8"/>
                </a:solidFill>
                <a:latin typeface="Microsoft YaHei"/>
              </a:rPr>
              <a:t>讲义 · 名师医案 · 课程视频 · 训练营任务 · FAQ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10712"/>
            <a:ext cx="0" cy="612648"/>
          </a:xfrm>
          <a:prstGeom prst="line">
            <a:avLst/>
          </a:prstGeom>
          <a:ln w="15240">
            <a:solidFill>
              <a:srgbClr val="D7C5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080760" y="3410712"/>
            <a:ext cx="0" cy="612648"/>
          </a:xfrm>
          <a:prstGeom prst="line">
            <a:avLst/>
          </a:prstGeom>
          <a:ln w="15240">
            <a:solidFill>
              <a:srgbClr val="D7C5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966960" y="3410712"/>
            <a:ext cx="0" cy="612648"/>
          </a:xfrm>
          <a:prstGeom prst="line">
            <a:avLst/>
          </a:prstGeom>
          <a:ln w="15240">
            <a:solidFill>
              <a:srgbClr val="D7C5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31520" y="4023360"/>
            <a:ext cx="3401568" cy="1234440"/>
          </a:xfrm>
          <a:prstGeom prst="roundRect">
            <a:avLst/>
          </a:prstGeom>
          <a:solidFill>
            <a:srgbClr val="C85D48"/>
          </a:solidFill>
          <a:ln w="10160">
            <a:solidFill>
              <a:srgbClr val="C85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42793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DF8"/>
                </a:solidFill>
                <a:latin typeface="Microsoft YaHei"/>
              </a:rPr>
              <a:t>AI 课程助教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608576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FFFDF8"/>
                </a:solidFill>
                <a:latin typeface="Microsoft YaHei"/>
              </a:rPr>
              <a:t>讲解、答疑、章节小测
适用于所有学员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17720" y="4023360"/>
            <a:ext cx="3401568" cy="1234440"/>
          </a:xfrm>
          <a:prstGeom prst="roundRect">
            <a:avLst/>
          </a:prstGeom>
          <a:solidFill>
            <a:srgbClr val="D7C58F"/>
          </a:solidFill>
          <a:ln w="10160">
            <a:solidFill>
              <a:srgbClr val="D7C5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18888" y="42793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03A32"/>
                </a:solidFill>
                <a:latin typeface="Microsoft YaHei"/>
              </a:rPr>
              <a:t>医案陪练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4608576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103A32"/>
                </a:solidFill>
                <a:latin typeface="Microsoft YaHei"/>
              </a:rPr>
              <a:t>AI 扮演患者
训练四诊与辨证思路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0" y="4023360"/>
            <a:ext cx="3401568" cy="1234440"/>
          </a:xfrm>
          <a:prstGeom prst="roundRect">
            <a:avLst/>
          </a:prstGeom>
          <a:solidFill>
            <a:srgbClr val="6D9B86"/>
          </a:solidFill>
          <a:ln w="10160">
            <a:solidFill>
              <a:srgbClr val="6D9B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05088" y="427939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DF8"/>
                </a:solidFill>
                <a:latin typeface="Microsoft YaHei"/>
              </a:rPr>
              <a:t>教师协作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5088" y="4608576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FFFDF8"/>
                </a:solidFill>
                <a:latin typeface="Microsoft YaHei"/>
              </a:rPr>
              <a:t>审核反馈、看薄弱点
沉淀 Bad Case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8" y="5559552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C7D6CC"/>
                </a:solidFill>
                <a:latin typeface="Microsoft YaHei"/>
              </a:rPr>
              <a:t>用户看到的是一套课程学习体验；系统内部按场景编排不同 Agent、检索和安全策略。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C85D48"/>
                </a:solidFill>
                <a:latin typeface="Microsoft YaHei"/>
              </a:rPr>
              <a:t>华医世界 · 中医课程 AI 产品方案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9260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6D7B73"/>
                </a:solidFill>
                <a:latin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6D7B73"/>
                </a:solidFill>
                <a:latin typeface="Microsoft YaHei"/>
              </a:rPr>
              <a:t>03 · 学习路径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245352"/>
            <a:ext cx="11183112" cy="0"/>
          </a:xfrm>
          <a:prstGeom prst="line">
            <a:avLst/>
          </a:prstGeom>
          <a:ln w="8890">
            <a:solidFill>
              <a:srgbClr val="D8D1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868680"/>
            <a:ext cx="749807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93630"/>
                </a:solidFill>
                <a:latin typeface="Microsoft YaHei"/>
              </a:rPr>
              <a:t>把“学完一节课”变成一条闭环。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883664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D7B73"/>
                </a:solidFill>
                <a:latin typeface="Microsoft YaHei"/>
              </a:rPr>
              <a:t>先帮助学员理解，再让学员主动练习，最后把反馈交给学员和老师。</a:t>
            </a:r>
          </a:p>
        </p:txBody>
      </p:sp>
      <p:sp>
        <p:nvSpPr>
          <p:cNvPr id="8" name="Oval 7"/>
          <p:cNvSpPr/>
          <p:nvPr/>
        </p:nvSpPr>
        <p:spPr>
          <a:xfrm>
            <a:off x="1243584" y="2743200"/>
            <a:ext cx="530352" cy="530352"/>
          </a:xfrm>
          <a:prstGeom prst="ellipse">
            <a:avLst/>
          </a:prstGeom>
          <a:solidFill>
            <a:srgbClr val="103A32"/>
          </a:solidFill>
          <a:ln>
            <a:solidFill>
              <a:srgbClr val="10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43584" y="2838663"/>
            <a:ext cx="530352" cy="3182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DF8"/>
                </a:solidFill>
                <a:latin typeface="Microsoft YaHei"/>
              </a:rPr>
              <a:t>01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792224" y="3008376"/>
            <a:ext cx="1088136" cy="0"/>
          </a:xfrm>
          <a:prstGeom prst="line">
            <a:avLst/>
          </a:prstGeom>
          <a:ln w="17780">
            <a:solidFill>
              <a:srgbClr val="D8D1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713232" y="3584448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193630"/>
                </a:solidFill>
                <a:latin typeface="Microsoft YaHei"/>
              </a:rPr>
              <a:t>学懂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041648"/>
            <a:ext cx="1874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6D7B73"/>
                </a:solidFill>
                <a:latin typeface="Microsoft YaHei"/>
              </a:rPr>
              <a:t>按章节提问
AI 用课程资料讲清楚</a:t>
            </a:r>
          </a:p>
        </p:txBody>
      </p:sp>
      <p:sp>
        <p:nvSpPr>
          <p:cNvPr id="13" name="Oval 12"/>
          <p:cNvSpPr/>
          <p:nvPr/>
        </p:nvSpPr>
        <p:spPr>
          <a:xfrm>
            <a:off x="3456432" y="2743200"/>
            <a:ext cx="530352" cy="530352"/>
          </a:xfrm>
          <a:prstGeom prst="ellipse">
            <a:avLst/>
          </a:prstGeom>
          <a:solidFill>
            <a:srgbClr val="103A32"/>
          </a:solidFill>
          <a:ln>
            <a:solidFill>
              <a:srgbClr val="10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6432" y="2838663"/>
            <a:ext cx="530352" cy="3182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DF8"/>
                </a:solidFill>
                <a:latin typeface="Microsoft YaHei"/>
              </a:rPr>
              <a:t>02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05072" y="3008376"/>
            <a:ext cx="1088136" cy="0"/>
          </a:xfrm>
          <a:prstGeom prst="line">
            <a:avLst/>
          </a:prstGeom>
          <a:ln w="17780">
            <a:solidFill>
              <a:srgbClr val="D8D1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926080" y="3584448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193630"/>
                </a:solidFill>
                <a:latin typeface="Microsoft YaHei"/>
              </a:rPr>
              <a:t>练习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62656" y="4041648"/>
            <a:ext cx="1874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6D7B73"/>
                </a:solidFill>
                <a:latin typeface="Microsoft YaHei"/>
              </a:rPr>
              <a:t>生成小测与复习卡
检验是否真的理解</a:t>
            </a:r>
          </a:p>
        </p:txBody>
      </p:sp>
      <p:sp>
        <p:nvSpPr>
          <p:cNvPr id="18" name="Oval 17"/>
          <p:cNvSpPr/>
          <p:nvPr/>
        </p:nvSpPr>
        <p:spPr>
          <a:xfrm>
            <a:off x="5669280" y="2743200"/>
            <a:ext cx="530352" cy="530352"/>
          </a:xfrm>
          <a:prstGeom prst="ellipse">
            <a:avLst/>
          </a:prstGeom>
          <a:solidFill>
            <a:srgbClr val="C85D48"/>
          </a:solidFill>
          <a:ln>
            <a:solidFill>
              <a:srgbClr val="C85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2838663"/>
            <a:ext cx="530352" cy="3182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DF8"/>
                </a:solidFill>
                <a:latin typeface="Microsoft YaHei"/>
              </a:rPr>
              <a:t>03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217920" y="3008376"/>
            <a:ext cx="1088136" cy="0"/>
          </a:xfrm>
          <a:prstGeom prst="line">
            <a:avLst/>
          </a:prstGeom>
          <a:ln w="17780">
            <a:solidFill>
              <a:srgbClr val="C85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138928" y="3584448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193630"/>
                </a:solidFill>
                <a:latin typeface="Microsoft YaHei"/>
              </a:rPr>
              <a:t>陪练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75504" y="4041648"/>
            <a:ext cx="1874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6D7B73"/>
                </a:solidFill>
                <a:latin typeface="Microsoft YaHei"/>
              </a:rPr>
              <a:t>进入医案
主动问诊、组织证据</a:t>
            </a:r>
          </a:p>
        </p:txBody>
      </p:sp>
      <p:sp>
        <p:nvSpPr>
          <p:cNvPr id="23" name="Oval 22"/>
          <p:cNvSpPr/>
          <p:nvPr/>
        </p:nvSpPr>
        <p:spPr>
          <a:xfrm>
            <a:off x="7882127" y="2743200"/>
            <a:ext cx="530352" cy="530352"/>
          </a:xfrm>
          <a:prstGeom prst="ellipse">
            <a:avLst/>
          </a:prstGeom>
          <a:solidFill>
            <a:srgbClr val="103A32"/>
          </a:solidFill>
          <a:ln>
            <a:solidFill>
              <a:srgbClr val="10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882127" y="2838663"/>
            <a:ext cx="530352" cy="3182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DF8"/>
                </a:solidFill>
                <a:latin typeface="Microsoft YaHei"/>
              </a:rPr>
              <a:t>04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0767" y="3008376"/>
            <a:ext cx="1088137" cy="0"/>
          </a:xfrm>
          <a:prstGeom prst="line">
            <a:avLst/>
          </a:prstGeom>
          <a:ln w="17780">
            <a:solidFill>
              <a:srgbClr val="D8D1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351775" y="3584448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193630"/>
                </a:solidFill>
                <a:latin typeface="Microsoft YaHei"/>
              </a:rPr>
              <a:t>反馈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88351" y="4041648"/>
            <a:ext cx="1874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6D7B73"/>
                </a:solidFill>
                <a:latin typeface="Microsoft YaHei"/>
              </a:rPr>
              <a:t>指出遗漏与薄弱点
给出下一步复习</a:t>
            </a:r>
          </a:p>
        </p:txBody>
      </p:sp>
      <p:sp>
        <p:nvSpPr>
          <p:cNvPr id="28" name="Oval 27"/>
          <p:cNvSpPr/>
          <p:nvPr/>
        </p:nvSpPr>
        <p:spPr>
          <a:xfrm>
            <a:off x="10094976" y="2743200"/>
            <a:ext cx="530352" cy="530352"/>
          </a:xfrm>
          <a:prstGeom prst="ellipse">
            <a:avLst/>
          </a:prstGeom>
          <a:solidFill>
            <a:srgbClr val="103A32"/>
          </a:solidFill>
          <a:ln>
            <a:solidFill>
              <a:srgbClr val="10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94976" y="2838663"/>
            <a:ext cx="530352" cy="3182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FFFDF8"/>
                </a:solidFill>
                <a:latin typeface="Microsoft YaHe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564624" y="3584448"/>
            <a:ext cx="19202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193630"/>
                </a:solidFill>
                <a:latin typeface="Microsoft YaHei"/>
              </a:rPr>
              <a:t>协作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199" y="4041648"/>
            <a:ext cx="1874519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6D7B73"/>
                </a:solidFill>
                <a:latin typeface="Microsoft YaHei"/>
              </a:rPr>
              <a:t>教师审核与干预
Bad Case 反哺课程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5285232"/>
            <a:ext cx="10607040" cy="457200"/>
          </a:xfrm>
          <a:prstGeom prst="roundRect">
            <a:avLst/>
          </a:prstGeom>
          <a:solidFill>
            <a:srgbClr val="F1E8D5"/>
          </a:solidFill>
          <a:ln w="10160">
            <a:solidFill>
              <a:srgbClr val="E4D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5431536"/>
            <a:ext cx="10058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 i="0">
                <a:solidFill>
                  <a:srgbClr val="103A32"/>
                </a:solidFill>
                <a:latin typeface="Microsoft YaHei"/>
              </a:rPr>
              <a:t>核心变化：从“问 AI 得答案”，变成“学习行为被看见、被练习、被反馈”。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7C58F"/>
                </a:solidFill>
                <a:latin typeface="Microsoft YaHei"/>
              </a:rPr>
              <a:t>华医世界 · 中医课程 AI 产品方案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9260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D7C58F"/>
                </a:solidFill>
                <a:latin typeface="Microsoft YaHe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7C58F"/>
                </a:solidFill>
                <a:latin typeface="Microsoft YaHei"/>
              </a:rPr>
              <a:t>04 · 产品一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245352"/>
            <a:ext cx="11183112" cy="0"/>
          </a:xfrm>
          <a:prstGeom prst="line">
            <a:avLst/>
          </a:prstGeom>
          <a:ln w="8890">
            <a:solidFill>
              <a:srgbClr val="4C6C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868680"/>
            <a:ext cx="749807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DF8"/>
                </a:solidFill>
                <a:latin typeface="Microsoft YaHei"/>
              </a:rPr>
              <a:t>AI 课程助教：让老师的内容可以被反复学习。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883664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C7D6CC"/>
                </a:solidFill>
                <a:latin typeface="Microsoft YaHei"/>
              </a:rPr>
              <a:t>第一阶段面向一个课程主题，先验证“讲解 + 练习 + 来源”是否能降低重复答疑。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61488"/>
            <a:ext cx="4892040" cy="987552"/>
          </a:xfrm>
          <a:prstGeom prst="roundRect">
            <a:avLst/>
          </a:prstGeom>
          <a:solidFill>
            <a:srgbClr val="1E5A4A"/>
          </a:solidFill>
          <a:ln w="10160">
            <a:solidFill>
              <a:srgbClr val="4A7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962656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D7C58F"/>
                </a:solidFill>
                <a:latin typeface="Microsoft YaHei"/>
              </a:rPr>
              <a:t>课程问答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2926080"/>
            <a:ext cx="2697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C7D6CC"/>
                </a:solidFill>
                <a:latin typeface="Microsoft YaHei"/>
              </a:rPr>
              <a:t>围绕章节内容回答，
每个答案带出处。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761488"/>
            <a:ext cx="4892040" cy="987552"/>
          </a:xfrm>
          <a:prstGeom prst="roundRect">
            <a:avLst/>
          </a:prstGeom>
          <a:solidFill>
            <a:srgbClr val="174A40"/>
          </a:solidFill>
          <a:ln w="10160">
            <a:solidFill>
              <a:srgbClr val="4A7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962656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DF8"/>
                </a:solidFill>
                <a:latin typeface="Microsoft YaHei"/>
              </a:rPr>
              <a:t>换一种说法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926080"/>
            <a:ext cx="2697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C7D6CC"/>
                </a:solidFill>
                <a:latin typeface="Microsoft YaHei"/>
              </a:rPr>
              <a:t>根据学员基础，
把术语讲得更易懂。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59935"/>
            <a:ext cx="4892040" cy="987552"/>
          </a:xfrm>
          <a:prstGeom prst="roundRect">
            <a:avLst/>
          </a:prstGeom>
          <a:solidFill>
            <a:srgbClr val="174A40"/>
          </a:solidFill>
          <a:ln w="10160">
            <a:solidFill>
              <a:srgbClr val="4A7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261103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DF8"/>
                </a:solidFill>
                <a:latin typeface="Microsoft YaHei"/>
              </a:rPr>
              <a:t>章节小测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4224527"/>
            <a:ext cx="2697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C7D6CC"/>
                </a:solidFill>
                <a:latin typeface="Microsoft YaHei"/>
              </a:rPr>
              <a:t>生成选择题、简答题
与复习卡。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059935"/>
            <a:ext cx="4892040" cy="987552"/>
          </a:xfrm>
          <a:prstGeom prst="roundRect">
            <a:avLst/>
          </a:prstGeom>
          <a:solidFill>
            <a:srgbClr val="174A40"/>
          </a:solidFill>
          <a:ln w="10160">
            <a:solidFill>
              <a:srgbClr val="4A7A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4261103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FDF8"/>
                </a:solidFill>
                <a:latin typeface="Microsoft YaHei"/>
              </a:rPr>
              <a:t>复习路径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4224527"/>
            <a:ext cx="26974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C7D6CC"/>
                </a:solidFill>
                <a:latin typeface="Microsoft YaHei"/>
              </a:rPr>
              <a:t>根据错题和薄弱点，
推荐下一章内容。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6384" y="5650992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D7C58F"/>
                </a:solidFill>
                <a:latin typeface="Microsoft YaHei"/>
              </a:rPr>
              <a:t>示例：学员问“什么是四诊合参？”→ 课程资料检索 → 通俗解释 → 章节出处 → 课后小测。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C85D48"/>
                </a:solidFill>
                <a:latin typeface="Microsoft YaHei"/>
              </a:rPr>
              <a:t>华医世界 · 中医课程 AI 产品方案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9260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6D7B73"/>
                </a:solidFill>
                <a:latin typeface="Microsoft YaHe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6D7B73"/>
                </a:solidFill>
                <a:latin typeface="Microsoft YaHei"/>
              </a:rPr>
              <a:t>05 · 产品二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245352"/>
            <a:ext cx="11183112" cy="0"/>
          </a:xfrm>
          <a:prstGeom prst="line">
            <a:avLst/>
          </a:prstGeom>
          <a:ln w="8890">
            <a:solidFill>
              <a:srgbClr val="D8D1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868680"/>
            <a:ext cx="749807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93630"/>
                </a:solidFill>
                <a:latin typeface="Microsoft YaHei"/>
              </a:rPr>
              <a:t>医案陪练：把知识放进临床思维里。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883664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D7B73"/>
                </a:solidFill>
                <a:latin typeface="Microsoft YaHei"/>
              </a:rPr>
              <a:t>它不是在线问诊产品，而是课程平台里的一门“主动问、主动想、再复盘”的训练课。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43200"/>
            <a:ext cx="3657600" cy="2560320"/>
          </a:xfrm>
          <a:prstGeom prst="rect">
            <a:avLst/>
          </a:prstGeom>
          <a:solidFill>
            <a:srgbClr val="FBF8EF"/>
          </a:solidFill>
          <a:ln w="10160">
            <a:solidFill>
              <a:srgbClr val="D8D1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0175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C85D48"/>
                </a:solidFill>
                <a:latin typeface="Microsoft YaHei"/>
              </a:rPr>
              <a:t>学员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29260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93630"/>
                </a:solidFill>
                <a:latin typeface="Microsoft YaHei"/>
              </a:rPr>
              <a:t>“我想练习外感咳嗽医案，
现在应该先问什么？”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64515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D7B73"/>
                </a:solidFill>
                <a:latin typeface="Microsoft YaHei"/>
              </a:rPr>
              <a:t>主动提问 / 选择追问 / 提交判断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0" y="2743200"/>
            <a:ext cx="3657600" cy="2560320"/>
          </a:xfrm>
          <a:prstGeom prst="rect">
            <a:avLst/>
          </a:prstGeom>
          <a:solidFill>
            <a:srgbClr val="103A32"/>
          </a:solidFill>
          <a:ln w="10160">
            <a:solidFill>
              <a:srgbClr val="10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65008" y="301752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D7C58F"/>
                </a:solidFill>
                <a:latin typeface="Microsoft YaHei"/>
              </a:rPr>
              <a:t>AI 患者 + 教练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3566160"/>
            <a:ext cx="29260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FFFDF8"/>
                </a:solidFill>
                <a:latin typeface="Microsoft YaHei"/>
              </a:rPr>
              <a:t>只按病例状态逐步透露信息，
不提前泄露标准答案。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5008" y="4645152"/>
            <a:ext cx="2926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C7D6CC"/>
                </a:solidFill>
                <a:latin typeface="Microsoft YaHei"/>
              </a:rPr>
              <a:t>追问 → 来源 → 反馈 → 教师审核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26280" y="4023360"/>
            <a:ext cx="3108960" cy="0"/>
          </a:xfrm>
          <a:prstGeom prst="line">
            <a:avLst/>
          </a:prstGeom>
          <a:ln w="27940">
            <a:solidFill>
              <a:srgbClr val="C85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66360" y="3602736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C85D48"/>
                </a:solidFill>
                <a:latin typeface="Microsoft YaHei"/>
              </a:rPr>
              <a:t>四诊信息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4315968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C85D48"/>
                </a:solidFill>
                <a:latin typeface="Microsoft YaHei"/>
              </a:rPr>
              <a:t>辨证依据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5632704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93630"/>
                </a:solidFill>
                <a:latin typeface="Microsoft YaHei"/>
              </a:rPr>
              <a:t>提交后才给反馈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56327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 i="0">
                <a:solidFill>
                  <a:srgbClr val="C85D48"/>
                </a:solidFill>
                <a:latin typeface="Microsoft YaHei"/>
              </a:rPr>
              <a:t>遇到处方、剂量、个体化诊疗请求 → 安全闸 + 教师/医生审核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7C58F"/>
                </a:solidFill>
                <a:latin typeface="Microsoft YaHei"/>
              </a:rPr>
              <a:t>华医世界 · 中医课程 AI 产品方案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9260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D7C58F"/>
                </a:solidFill>
                <a:latin typeface="Microsoft YaHe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7C58F"/>
                </a:solidFill>
                <a:latin typeface="Microsoft YaHei"/>
              </a:rPr>
              <a:t>06 · 产品差异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245352"/>
            <a:ext cx="11183112" cy="0"/>
          </a:xfrm>
          <a:prstGeom prst="line">
            <a:avLst/>
          </a:prstGeom>
          <a:ln w="8890">
            <a:solidFill>
              <a:srgbClr val="4C6C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868680"/>
            <a:ext cx="749807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DF8"/>
                </a:solidFill>
                <a:latin typeface="Microsoft YaHei"/>
              </a:rPr>
              <a:t>为什么不是通用大模型套壳？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883664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C7D6CC"/>
                </a:solidFill>
                <a:latin typeface="Microsoft YaHei"/>
              </a:rPr>
              <a:t>因为学习目标、知识来源、练习方式和安全边界都被产品化了。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7432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D7C58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6736" y="27249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FDF8"/>
                </a:solidFill>
                <a:latin typeface="Microsoft YaHei"/>
              </a:rPr>
              <a:t>有课程出处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3108960"/>
            <a:ext cx="4343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C7D6CC"/>
                </a:solidFill>
                <a:latin typeface="Microsoft YaHei"/>
              </a:rPr>
              <a:t>回答必须落到具体章节、讲义或老师医案，不只给一个看似合理的答案。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16736" y="3867912"/>
            <a:ext cx="4553712" cy="0"/>
          </a:xfrm>
          <a:prstGeom prst="line">
            <a:avLst/>
          </a:prstGeom>
          <a:ln w="8890">
            <a:solidFill>
              <a:srgbClr val="356B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236208" y="2743200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D7C58F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03136" y="272491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FDF8"/>
                </a:solidFill>
                <a:latin typeface="Microsoft YaHei"/>
              </a:rPr>
              <a:t>有学习任务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03136" y="3108960"/>
            <a:ext cx="4343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C7D6CC"/>
                </a:solidFill>
                <a:latin typeface="Microsoft YaHei"/>
              </a:rPr>
              <a:t>每次交互都服务于理解、练习或复习，不让聊天漫无目的地结束。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803136" y="3867912"/>
            <a:ext cx="4553712" cy="0"/>
          </a:xfrm>
          <a:prstGeom prst="line">
            <a:avLst/>
          </a:prstGeom>
          <a:ln w="8890">
            <a:solidFill>
              <a:srgbClr val="356B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49808" y="422452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D7C58F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" y="420624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FDF8"/>
                </a:solidFill>
                <a:latin typeface="Microsoft YaHei"/>
              </a:rPr>
              <a:t>有过程反馈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16736" y="4590288"/>
            <a:ext cx="4343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C7D6CC"/>
                </a:solidFill>
                <a:latin typeface="Microsoft YaHei"/>
              </a:rPr>
              <a:t>评价学员问了什么、遗漏了什么、证据链是否完整，而不是只评价一句话。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316736" y="5349240"/>
            <a:ext cx="4553712" cy="0"/>
          </a:xfrm>
          <a:prstGeom prst="line">
            <a:avLst/>
          </a:prstGeom>
          <a:ln w="8890">
            <a:solidFill>
              <a:srgbClr val="356B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236208" y="4224528"/>
            <a:ext cx="457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D7C58F"/>
                </a:solidFill>
                <a:latin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03136" y="420624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FFDF8"/>
                </a:solidFill>
                <a:latin typeface="Microsoft YaHei"/>
              </a:rPr>
              <a:t>有教师入口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03136" y="4590288"/>
            <a:ext cx="4343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C7D6CC"/>
                </a:solidFill>
                <a:latin typeface="Microsoft YaHei"/>
              </a:rPr>
              <a:t>高风险内容和 AI 草稿进入人工审核，教师可以看到问题分布并反哺课程。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03136" y="5349240"/>
            <a:ext cx="4553712" cy="0"/>
          </a:xfrm>
          <a:prstGeom prst="line">
            <a:avLst/>
          </a:prstGeom>
          <a:ln w="8890">
            <a:solidFill>
              <a:srgbClr val="356B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C85D48"/>
                </a:solidFill>
                <a:latin typeface="Microsoft YaHei"/>
              </a:rPr>
              <a:t>华医世界 · 中医课程 AI 产品方案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9260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6D7B73"/>
                </a:solidFill>
                <a:latin typeface="Microsoft YaHei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6D7B73"/>
                </a:solidFill>
                <a:latin typeface="Microsoft YaHei"/>
              </a:rPr>
              <a:t>07 · 技术落地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245352"/>
            <a:ext cx="11183112" cy="0"/>
          </a:xfrm>
          <a:prstGeom prst="line">
            <a:avLst/>
          </a:prstGeom>
          <a:ln w="8890">
            <a:solidFill>
              <a:srgbClr val="D8D1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868680"/>
            <a:ext cx="749807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93630"/>
                </a:solidFill>
                <a:latin typeface="Microsoft YaHei"/>
              </a:rPr>
              <a:t>AI 能力不是一个模型，而是一条可观察的工作流。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883664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D7B73"/>
                </a:solidFill>
                <a:latin typeface="Microsoft YaHei"/>
              </a:rPr>
              <a:t>我会把课程内容、业务规则和模型能力拆开，先做可运行 MVP，再按真实数据迭代。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606040"/>
            <a:ext cx="10149840" cy="512064"/>
          </a:xfrm>
          <a:prstGeom prst="roundRect">
            <a:avLst/>
          </a:prstGeom>
          <a:solidFill>
            <a:srgbClr val="E9DFC9"/>
          </a:solidFill>
          <a:ln w="10160">
            <a:solidFill>
              <a:srgbClr val="E9DFC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33856" y="2761488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3A32"/>
                </a:solidFill>
                <a:latin typeface="Microsoft YaHei"/>
              </a:rPr>
              <a:t>内容层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2761488"/>
            <a:ext cx="7132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93630"/>
                </a:solidFill>
                <a:latin typeface="Microsoft YaHei"/>
              </a:rPr>
              <a:t>课程资料 / 医案 / FAQ / 题库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1240" y="276148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C85D48"/>
                </a:solidFill>
                <a:latin typeface="Microsoft YaHei"/>
              </a:rPr>
              <a:t>可审校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300984"/>
            <a:ext cx="10149840" cy="512064"/>
          </a:xfrm>
          <a:prstGeom prst="roundRect">
            <a:avLst/>
          </a:prstGeom>
          <a:solidFill>
            <a:srgbClr val="DCE8D9"/>
          </a:solidFill>
          <a:ln w="10160">
            <a:solidFill>
              <a:srgbClr val="DCE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345643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3A32"/>
                </a:solidFill>
                <a:latin typeface="Microsoft YaHei"/>
              </a:rPr>
              <a:t>检索层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456432"/>
            <a:ext cx="7132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93630"/>
                </a:solidFill>
                <a:latin typeface="Microsoft YaHei"/>
              </a:rPr>
              <a:t>向量 + 关键词混合检索，保留出处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345643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C85D48"/>
                </a:solidFill>
                <a:latin typeface="Microsoft YaHei"/>
              </a:rPr>
              <a:t>可引用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995928"/>
            <a:ext cx="10149840" cy="512064"/>
          </a:xfrm>
          <a:prstGeom prst="roundRect">
            <a:avLst/>
          </a:prstGeom>
          <a:solidFill>
            <a:srgbClr val="D9E2E5"/>
          </a:solidFill>
          <a:ln w="10160">
            <a:solidFill>
              <a:srgbClr val="D9E2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33856" y="4151376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3A32"/>
                </a:solidFill>
                <a:latin typeface="Microsoft YaHei"/>
              </a:rPr>
              <a:t>编排层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60320" y="4151376"/>
            <a:ext cx="7132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93630"/>
                </a:solidFill>
                <a:latin typeface="Microsoft YaHei"/>
              </a:rPr>
              <a:t>分流 → 检索 → 教练/答疑 → 安全审核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4151376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C85D48"/>
                </a:solidFill>
                <a:latin typeface="Microsoft YaHei"/>
              </a:rPr>
              <a:t>可追踪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690872"/>
            <a:ext cx="10149840" cy="512064"/>
          </a:xfrm>
          <a:prstGeom prst="roundRect">
            <a:avLst/>
          </a:prstGeom>
          <a:solidFill>
            <a:srgbClr val="F0D8CF"/>
          </a:solidFill>
          <a:ln w="10160">
            <a:solidFill>
              <a:srgbClr val="F0D8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33856" y="4846320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03A32"/>
                </a:solidFill>
                <a:latin typeface="Microsoft YaHei"/>
              </a:rPr>
              <a:t>产品层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4846320"/>
            <a:ext cx="71323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93630"/>
                </a:solidFill>
                <a:latin typeface="Microsoft YaHei"/>
              </a:rPr>
              <a:t>课程页 / 练习页 / 教师审核 / App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4846320"/>
            <a:ext cx="822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C85D48"/>
                </a:solidFill>
                <a:latin typeface="Microsoft YaHei"/>
              </a:rPr>
              <a:t>可接入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5596128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85D48"/>
                </a:solidFill>
                <a:latin typeface="Microsoft YaHei"/>
              </a:rPr>
              <a:t>工程证据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577840"/>
            <a:ext cx="9326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D7B73"/>
                </a:solidFill>
                <a:latin typeface="Microsoft YaHei"/>
              </a:rPr>
              <a:t>React + FastAPI + Agent/RAG + SSE；本地 Trace 可展示节点、耗时、Token（精确或估算标注）；Embedding Key 通过会话级配置传入。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7C58F"/>
                </a:solidFill>
                <a:latin typeface="Microsoft YaHei"/>
              </a:rPr>
              <a:t>华医世界 · 中医课程 AI 产品方案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9260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D7C58F"/>
                </a:solidFill>
                <a:latin typeface="Microsoft YaHe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7C58F"/>
                </a:solidFill>
                <a:latin typeface="Microsoft YaHei"/>
              </a:rPr>
              <a:t>08 · 0→1 计划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245352"/>
            <a:ext cx="11183112" cy="0"/>
          </a:xfrm>
          <a:prstGeom prst="line">
            <a:avLst/>
          </a:prstGeom>
          <a:ln w="8890">
            <a:solidFill>
              <a:srgbClr val="4C6C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868680"/>
            <a:ext cx="749807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DF8"/>
                </a:solidFill>
                <a:latin typeface="Microsoft YaHei"/>
              </a:rPr>
              <a:t>先跑通一门课，再扩成平台。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883664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C7D6CC"/>
                </a:solidFill>
                <a:latin typeface="Microsoft YaHei"/>
              </a:rPr>
              <a:t>首期不做全量课程、完整 App 重构和自动诊疗，把边界留给真正的验证。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" y="2743200"/>
            <a:ext cx="3310128" cy="2240280"/>
          </a:xfrm>
          <a:prstGeom prst="roundRect">
            <a:avLst/>
          </a:prstGeom>
          <a:solidFill>
            <a:srgbClr val="1E5A4A"/>
          </a:solidFill>
          <a:ln w="10160">
            <a:solidFill>
              <a:srgbClr val="4679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5" y="2999232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D7C58F"/>
                </a:solidFill>
                <a:latin typeface="Microsoft YaHei"/>
              </a:rPr>
              <a:t>0—30 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5" y="340156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DF8"/>
                </a:solidFill>
                <a:latin typeface="Microsoft YaHei"/>
              </a:rPr>
              <a:t>找场景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5" y="3950208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C7D6CC"/>
                </a:solidFill>
                <a:latin typeface="Microsoft YaHei"/>
              </a:rPr>
              <a:t>访谈讲师、班主任和学员
选一个高频课程主题
整理版权、权限和评测集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98848" y="2743200"/>
            <a:ext cx="3310128" cy="2240280"/>
          </a:xfrm>
          <a:prstGeom prst="roundRect">
            <a:avLst/>
          </a:prstGeom>
          <a:solidFill>
            <a:srgbClr val="1E5A4A"/>
          </a:solidFill>
          <a:ln w="10160">
            <a:solidFill>
              <a:srgbClr val="4679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27448" y="2999232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D7C58F"/>
                </a:solidFill>
                <a:latin typeface="Microsoft YaHei"/>
              </a:rPr>
              <a:t>31—60 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7448" y="340156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DF8"/>
                </a:solidFill>
                <a:latin typeface="Microsoft YaHei"/>
              </a:rPr>
              <a:t>做 MVP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3950208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C7D6CC"/>
                </a:solidFill>
                <a:latin typeface="Microsoft YaHei"/>
              </a:rPr>
              <a:t>课程问答 + 小测 + 一套医案
来源引用、人工审核
内部训练营试用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0" y="2743200"/>
            <a:ext cx="3310128" cy="2240280"/>
          </a:xfrm>
          <a:prstGeom prst="roundRect">
            <a:avLst/>
          </a:prstGeom>
          <a:solidFill>
            <a:srgbClr val="1E5A4A"/>
          </a:solidFill>
          <a:ln w="10160">
            <a:solidFill>
              <a:srgbClr val="4679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58200" y="2999232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D7C58F"/>
                </a:solidFill>
                <a:latin typeface="Microsoft YaHei"/>
              </a:rPr>
              <a:t>61—90 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401568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DF8"/>
                </a:solidFill>
                <a:latin typeface="Microsoft YaHei"/>
              </a:rPr>
              <a:t>看数据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950208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C7D6CC"/>
                </a:solidFill>
                <a:latin typeface="Microsoft YaHei"/>
              </a:rPr>
              <a:t>小范围学员试用
看答疑时间、采纳率、转人工
再决定 App / 企微 / 小程序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5513832"/>
            <a:ext cx="10424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D7C58F"/>
                </a:solidFill>
                <a:latin typeface="Microsoft YaHei"/>
              </a:rPr>
              <a:t>验证指标：重复问题减少量 · 班主任答疑时间 · 有来源回答比例 · 教师采纳率 · 转人工比例 · 练习完成率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C85D48"/>
                </a:solidFill>
                <a:latin typeface="Microsoft YaHei"/>
              </a:rPr>
              <a:t>华医世界 · 中医课程 AI 产品方案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9260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6D7B73"/>
                </a:solidFill>
                <a:latin typeface="Microsoft YaHe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6D7B73"/>
                </a:solidFill>
                <a:latin typeface="Microsoft YaHei"/>
              </a:rPr>
              <a:t>09 · 现场演示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245352"/>
            <a:ext cx="11183112" cy="0"/>
          </a:xfrm>
          <a:prstGeom prst="line">
            <a:avLst/>
          </a:prstGeom>
          <a:ln w="8890">
            <a:solidFill>
              <a:srgbClr val="D8D1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868680"/>
            <a:ext cx="749807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193630"/>
                </a:solidFill>
                <a:latin typeface="Microsoft YaHei"/>
              </a:rPr>
              <a:t>5 分钟演示：让业务看到“能跑、能解释、能迭代”。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883664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6D7B73"/>
                </a:solidFill>
                <a:latin typeface="Microsoft YaHei"/>
              </a:rPr>
              <a:t>不临时开发完整 App，先用现有原型展示一条可信的课程学习链路。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788920"/>
            <a:ext cx="457200" cy="457200"/>
          </a:xfrm>
          <a:prstGeom prst="ellipse">
            <a:avLst/>
          </a:prstGeom>
          <a:solidFill>
            <a:srgbClr val="103A32"/>
          </a:solidFill>
          <a:ln>
            <a:solidFill>
              <a:srgbClr val="10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871215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DF8"/>
                </a:solidFill>
                <a:latin typeface="Microsoft YaHe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930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93630"/>
                </a:solidFill>
                <a:latin typeface="Microsoft YaHei"/>
              </a:rPr>
              <a:t>课程提问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68496"/>
            <a:ext cx="22402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D7B73"/>
                </a:solidFill>
                <a:latin typeface="Microsoft YaHei"/>
              </a:rPr>
              <a:t>问：这一章的核心方法是什么？
展示课程来源和通俗解释。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89888" y="3017520"/>
            <a:ext cx="1901951" cy="0"/>
          </a:xfrm>
          <a:prstGeom prst="line">
            <a:avLst/>
          </a:prstGeom>
          <a:ln w="16510">
            <a:solidFill>
              <a:srgbClr val="D8D1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3520439" y="2788920"/>
            <a:ext cx="457200" cy="457200"/>
          </a:xfrm>
          <a:prstGeom prst="ellipse">
            <a:avLst/>
          </a:prstGeom>
          <a:solidFill>
            <a:srgbClr val="103A32"/>
          </a:solidFill>
          <a:ln>
            <a:solidFill>
              <a:srgbClr val="10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20439" y="2871215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DF8"/>
                </a:solidFill>
                <a:latin typeface="Microsoft Ya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39" y="34930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93630"/>
                </a:solidFill>
                <a:latin typeface="Microsoft YaHei"/>
              </a:rPr>
              <a:t>进入医案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39" y="3968496"/>
            <a:ext cx="22402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D7B73"/>
                </a:solidFill>
                <a:latin typeface="Microsoft YaHei"/>
              </a:rPr>
              <a:t>换季咳嗽合成医案。
AI 先追问，学员可点选或补充。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178807" y="3017520"/>
            <a:ext cx="1901952" cy="0"/>
          </a:xfrm>
          <a:prstGeom prst="line">
            <a:avLst/>
          </a:prstGeom>
          <a:ln w="16510">
            <a:solidFill>
              <a:srgbClr val="D8D1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6309359" y="2788920"/>
            <a:ext cx="457200" cy="457200"/>
          </a:xfrm>
          <a:prstGeom prst="ellipse">
            <a:avLst/>
          </a:prstGeom>
          <a:solidFill>
            <a:srgbClr val="103A32"/>
          </a:solidFill>
          <a:ln>
            <a:solidFill>
              <a:srgbClr val="10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59" y="2871215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DF8"/>
                </a:solidFill>
                <a:latin typeface="Microsoft YaHe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34930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93630"/>
                </a:solidFill>
                <a:latin typeface="Microsoft YaHei"/>
              </a:rPr>
              <a:t>提交判断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3968496"/>
            <a:ext cx="22402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D7B73"/>
                </a:solidFill>
                <a:latin typeface="Microsoft YaHei"/>
              </a:rPr>
              <a:t>学员说明依据。
系统展示遗漏和临床思维反馈。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967727" y="3017520"/>
            <a:ext cx="1901953" cy="0"/>
          </a:xfrm>
          <a:prstGeom prst="line">
            <a:avLst/>
          </a:prstGeom>
          <a:ln w="16510">
            <a:solidFill>
              <a:srgbClr val="D8D1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9098280" y="2788920"/>
            <a:ext cx="457200" cy="457200"/>
          </a:xfrm>
          <a:prstGeom prst="ellipse">
            <a:avLst/>
          </a:prstGeom>
          <a:solidFill>
            <a:srgbClr val="C85D48"/>
          </a:solidFill>
          <a:ln>
            <a:solidFill>
              <a:srgbClr val="C85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98280" y="2871215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FFDF8"/>
                </a:solidFill>
                <a:latin typeface="Microsoft Ya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349300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193630"/>
                </a:solidFill>
                <a:latin typeface="Microsoft YaHei"/>
              </a:rPr>
              <a:t>触发审核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3968496"/>
            <a:ext cx="224028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6D7B73"/>
                </a:solidFill>
                <a:latin typeface="Microsoft YaHei"/>
              </a:rPr>
              <a:t>要求开方/剂量。
安全闸转教师审核，不越界。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" y="5266944"/>
            <a:ext cx="10744200" cy="512064"/>
          </a:xfrm>
          <a:prstGeom prst="roundRect">
            <a:avLst/>
          </a:prstGeom>
          <a:solidFill>
            <a:srgbClr val="F1E8D5"/>
          </a:solidFill>
          <a:ln w="10160">
            <a:solidFill>
              <a:srgbClr val="E4D7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440680"/>
            <a:ext cx="10241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C85D48"/>
                </a:solidFill>
                <a:latin typeface="Microsoft YaHei"/>
              </a:rPr>
              <a:t>现场口径：当前使用合成资料和 Mock 外部系统，展示的是产品流程与工程能力，不冒充正式生产医疗系统。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A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7C58F"/>
                </a:solidFill>
                <a:latin typeface="Microsoft YaHei"/>
              </a:rPr>
              <a:t>华医世界 · 中医课程 AI 产品方案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9260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D7C58F"/>
                </a:solidFill>
                <a:latin typeface="Microsoft YaHe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D7C58F"/>
                </a:solidFill>
                <a:latin typeface="Microsoft YaHei"/>
              </a:rPr>
              <a:t>10 · 岗位边界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245352"/>
            <a:ext cx="11183112" cy="0"/>
          </a:xfrm>
          <a:prstGeom prst="line">
            <a:avLst/>
          </a:prstGeom>
          <a:ln w="8890">
            <a:solidFill>
              <a:srgbClr val="4C6C6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868680"/>
            <a:ext cx="7498079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 i="0">
                <a:solidFill>
                  <a:srgbClr val="FFFDF8"/>
                </a:solidFill>
                <a:latin typeface="Microsoft YaHei"/>
              </a:rPr>
              <a:t>我可以承担 0→1，但不会盲目承诺单人包办。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1883664"/>
            <a:ext cx="79552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C7D6CC"/>
                </a:solidFill>
                <a:latin typeface="Microsoft YaHei"/>
              </a:rPr>
              <a:t>先对结果负责，再把需要协作的边界讲清楚，反而更适合早期项目。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743200"/>
            <a:ext cx="5166360" cy="2423160"/>
          </a:xfrm>
          <a:prstGeom prst="roundRect">
            <a:avLst/>
          </a:prstGeom>
          <a:solidFill>
            <a:srgbClr val="1E5A4A"/>
          </a:solidFill>
          <a:ln w="10160">
            <a:solidFill>
              <a:srgbClr val="477A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30632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D7C58F"/>
                </a:solidFill>
                <a:latin typeface="Microsoft YaHei"/>
              </a:rPr>
              <a:t>我可以独立负责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584448"/>
            <a:ext cx="429768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FFDF8"/>
                </a:solidFill>
                <a:latin typeface="Microsoft YaHei"/>
              </a:rPr>
              <a:t>场景调研与 MVP 定义
AI 应用层：RAG、Agent、提示词、接口
前端原型、流式体验、部署与 Trace
评测集、Bad Case 和迭代文档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2743200"/>
            <a:ext cx="5166360" cy="2423160"/>
          </a:xfrm>
          <a:prstGeom prst="roundRect">
            <a:avLst/>
          </a:prstGeom>
          <a:solidFill>
            <a:srgbClr val="174A40"/>
          </a:solidFill>
          <a:ln w="10160">
            <a:solidFill>
              <a:srgbClr val="477A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30632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D7C58F"/>
                </a:solidFill>
                <a:latin typeface="Microsoft YaHei"/>
              </a:rPr>
              <a:t>正式上线需要协作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3584448"/>
            <a:ext cx="429768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C7D6CC"/>
                </a:solidFill>
                <a:latin typeface="Microsoft YaHei"/>
              </a:rPr>
              <a:t>App 正式接入与账号体系
数据治理、运维、成本与安全
中医教师审核与课程版权
规模化并发和产品运营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577840"/>
            <a:ext cx="10469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D7C58F"/>
                </a:solidFill>
                <a:latin typeface="Microsoft YaHei"/>
              </a:rPr>
              <a:t>岗位沟通：如果职责是 AI 方向从 0 到 1，我期望转正 25K 左右；具体可结合首期目标、资源和绩效机制沟通。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1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C85D48"/>
                </a:solidFill>
                <a:latin typeface="Microsoft YaHei"/>
              </a:rPr>
              <a:t>华医世界 · 中医课程 AI 产品方案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01400" y="29260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6D7B73"/>
                </a:solidFill>
                <a:latin typeface="Microsoft YaHe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5486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800" b="1" i="0">
                <a:solidFill>
                  <a:srgbClr val="6D7B73"/>
                </a:solidFill>
                <a:latin typeface="Microsoft YaHei"/>
              </a:rPr>
              <a:t>11 · 结论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245352"/>
            <a:ext cx="11183112" cy="0"/>
          </a:xfrm>
          <a:prstGeom prst="line">
            <a:avLst/>
          </a:prstGeom>
          <a:ln w="8890">
            <a:solidFill>
              <a:srgbClr val="D8D1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49808" y="1078992"/>
            <a:ext cx="6675120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193630"/>
                </a:solidFill>
                <a:latin typeface="Microsoft YaHei"/>
              </a:rPr>
              <a:t>先做一门课，
再做一套学习系统。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834640"/>
            <a:ext cx="61264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6D7B73"/>
                </a:solidFill>
                <a:latin typeface="Microsoft YaHei"/>
              </a:rPr>
              <a:t>对华医世界，我建议首个产品从“课程 AI 助教 + 一套医案陪练”开始：
范围可控、能快速上线、能被真实学员使用，也能为后续 App 产品化留下接口。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35240" y="1234440"/>
            <a:ext cx="3566160" cy="3383280"/>
          </a:xfrm>
          <a:prstGeom prst="roundRect">
            <a:avLst/>
          </a:prstGeom>
          <a:solidFill>
            <a:srgbClr val="103A32"/>
          </a:solidFill>
          <a:ln w="10160">
            <a:solidFill>
              <a:srgbClr val="103A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10144" y="1691640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DF8"/>
                </a:solidFill>
                <a:latin typeface="Microsoft YaHei"/>
              </a:rPr>
              <a:t>课程资料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89720" y="21031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D7C58F"/>
                </a:solidFill>
                <a:latin typeface="Microsoft YaHei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10144" y="248716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DF8"/>
                </a:solidFill>
                <a:latin typeface="Microsoft YaHei"/>
              </a:rPr>
              <a:t>AI 讲解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20" y="28986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D7C58F"/>
                </a:solidFill>
                <a:latin typeface="Microsoft YaHei"/>
              </a:rPr>
              <a:t>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0144" y="3282696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FFDF8"/>
                </a:solidFill>
                <a:latin typeface="Microsoft YaHei"/>
              </a:rPr>
              <a:t>医案练习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20" y="369417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D7C58F"/>
                </a:solidFill>
                <a:latin typeface="Microsoft YaHei"/>
              </a:rPr>
              <a:t>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0144" y="4078224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D7C58F"/>
                </a:solidFill>
                <a:latin typeface="Microsoft YaHei"/>
              </a:rPr>
              <a:t>反馈与教师审核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05272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C85D48"/>
                </a:solidFill>
                <a:latin typeface="Microsoft YaHei"/>
              </a:rPr>
              <a:t>谢谢 / 欢迎现场演示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