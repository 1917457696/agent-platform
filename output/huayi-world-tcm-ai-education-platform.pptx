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面试方案 · 2026.10.29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4C6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078992"/>
            <a:ext cx="58521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DF8"/>
                </a:solidFill>
                <a:latin typeface="Microsoft YaHei"/>
              </a:rPr>
              <a:t>中医课程
AI 教学平台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6126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7D6CC"/>
                </a:solidFill>
                <a:latin typeface="Microsoft YaHei"/>
              </a:rPr>
              <a:t>从课程内容，到会讲解、会出题、会陪练、会反馈的学习服务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078992"/>
            <a:ext cx="3383280" cy="3474720"/>
          </a:xfrm>
          <a:prstGeom prst="roundRect">
            <a:avLst/>
          </a:prstGeom>
          <a:solidFill>
            <a:srgbClr val="1E5A4A"/>
          </a:solidFill>
          <a:ln w="10160">
            <a:solidFill>
              <a:srgbClr val="356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66760" y="1627632"/>
            <a:ext cx="530352" cy="530352"/>
          </a:xfrm>
          <a:prstGeom prst="ellipse">
            <a:avLst/>
          </a:prstGeom>
          <a:solidFill>
            <a:srgbClr val="C85D48"/>
          </a:solidFill>
          <a:ln>
            <a:solidFill>
              <a:srgbClr val="C8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23095"/>
            <a:ext cx="530352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DF8"/>
                </a:solidFill>
                <a:latin typeface="Microsoft YaHei"/>
              </a:rPr>
              <a:t>课</a:t>
            </a:r>
          </a:p>
        </p:txBody>
      </p:sp>
      <p:sp>
        <p:nvSpPr>
          <p:cNvPr id="11" name="Oval 10"/>
          <p:cNvSpPr/>
          <p:nvPr/>
        </p:nvSpPr>
        <p:spPr>
          <a:xfrm>
            <a:off x="9966960" y="2423160"/>
            <a:ext cx="530352" cy="530352"/>
          </a:xfrm>
          <a:prstGeom prst="ellipse">
            <a:avLst/>
          </a:prstGeom>
          <a:solidFill>
            <a:srgbClr val="D7C58F"/>
          </a:solidFill>
          <a:ln>
            <a:solidFill>
              <a:srgbClr val="D7C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2518623"/>
            <a:ext cx="530352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03A32"/>
                </a:solidFill>
                <a:latin typeface="Microsoft YaHei"/>
              </a:rPr>
              <a:t>练</a:t>
            </a:r>
          </a:p>
        </p:txBody>
      </p:sp>
      <p:sp>
        <p:nvSpPr>
          <p:cNvPr id="13" name="Oval 12"/>
          <p:cNvSpPr/>
          <p:nvPr/>
        </p:nvSpPr>
        <p:spPr>
          <a:xfrm>
            <a:off x="8366760" y="3236976"/>
            <a:ext cx="530352" cy="530352"/>
          </a:xfrm>
          <a:prstGeom prst="ellipse">
            <a:avLst/>
          </a:prstGeom>
          <a:solidFill>
            <a:srgbClr val="6D9B86"/>
          </a:solidFill>
          <a:ln>
            <a:solidFill>
              <a:srgbClr val="6D9B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332439"/>
            <a:ext cx="530352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DF8"/>
                </a:solidFill>
                <a:latin typeface="Microsoft YaHei"/>
              </a:rPr>
              <a:t>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97112" y="1892807"/>
            <a:ext cx="1069848" cy="786385"/>
          </a:xfrm>
          <a:prstGeom prst="line">
            <a:avLst/>
          </a:prstGeom>
          <a:ln w="17780">
            <a:solidFill>
              <a:srgbClr val="D7C5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897112" y="2953512"/>
            <a:ext cx="1069848" cy="548640"/>
          </a:xfrm>
          <a:prstGeom prst="line">
            <a:avLst/>
          </a:prstGeom>
          <a:ln w="17780">
            <a:solidFill>
              <a:srgbClr val="D7C5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66760" y="2157984"/>
            <a:ext cx="0" cy="1078992"/>
          </a:xfrm>
          <a:prstGeom prst="line">
            <a:avLst/>
          </a:prstGeom>
          <a:ln w="17780">
            <a:solidFill>
              <a:srgbClr val="D7C5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98280" y="1719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DF8"/>
                </a:solidFill>
                <a:latin typeface="Microsoft YaHei"/>
              </a:rPr>
              <a:t>课程讲解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9608" y="252374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DF8"/>
                </a:solidFill>
                <a:latin typeface="Microsoft YaHei"/>
              </a:rPr>
              <a:t>医案陪练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32841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DF8"/>
                </a:solidFill>
                <a:latin typeface="Microsoft YaHei"/>
              </a:rPr>
              <a:t>学习反馈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41513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D7C58F"/>
                </a:solidFill>
                <a:latin typeface="Microsoft YaHei"/>
              </a:rPr>
              <a:t>问诊不是产品全部，而是临床思维训练模块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5D48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01 · 产品判断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3630"/>
                </a:solidFill>
                <a:latin typeface="Microsoft YaHei"/>
              </a:rPr>
              <a:t>课程不是一段视频，
也不是一个聊天框。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D7B73"/>
                </a:solidFill>
                <a:latin typeface="Microsoft YaHei"/>
              </a:rPr>
              <a:t>中医教培的价值，应该从“看过”变成“学会、练会、能复盘”。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889504"/>
            <a:ext cx="3429000" cy="2121408"/>
          </a:xfrm>
          <a:prstGeom prst="rect">
            <a:avLst/>
          </a:prstGeom>
          <a:solidFill>
            <a:srgbClr val="FBF8EF"/>
          </a:solidFill>
          <a:ln w="10160">
            <a:solidFill>
              <a:srgbClr val="D8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98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5D48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7530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93630"/>
                </a:solidFill>
                <a:latin typeface="Microsoft YaHei"/>
              </a:rPr>
              <a:t>内容很多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9936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课程、医案、老师经验分散在视频、讲义和社群里，学员学完难以形成自己的知识结构。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2889504"/>
            <a:ext cx="3429000" cy="2121408"/>
          </a:xfrm>
          <a:prstGeom prst="rect">
            <a:avLst/>
          </a:prstGeom>
          <a:solidFill>
            <a:srgbClr val="FBF8EF"/>
          </a:solidFill>
          <a:ln w="10160">
            <a:solidFill>
              <a:srgbClr val="D8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0998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5D48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7530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93630"/>
                </a:solidFill>
                <a:latin typeface="Microsoft YaHei"/>
              </a:rPr>
              <a:t>问题重复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59936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班主任和老师反复回答同一类问题，真正需要人工判断的高价值问题反而被淹没。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1" y="2889504"/>
            <a:ext cx="3429000" cy="2121408"/>
          </a:xfrm>
          <a:prstGeom prst="rect">
            <a:avLst/>
          </a:prstGeom>
          <a:solidFill>
            <a:srgbClr val="FBF8EF"/>
          </a:solidFill>
          <a:ln w="10160">
            <a:solidFill>
              <a:srgbClr val="D8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09981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5D48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7530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93630"/>
                </a:solidFill>
                <a:latin typeface="Microsoft YaHei"/>
              </a:rPr>
              <a:t>学习断点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059936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学员看完课后缺少练习、反馈和下一步路径，不知道自己到底卡在哪里。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132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5D48"/>
                </a:solidFill>
                <a:latin typeface="Microsoft YaHei"/>
              </a:rPr>
              <a:t>产品机会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94960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630"/>
                </a:solidFill>
                <a:latin typeface="Microsoft YaHei"/>
              </a:rPr>
              <a:t>把一门课程升级为可互动、可练习、可追踪的 AI 学习服务。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02 · 双产品架构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4C6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DF8"/>
                </a:solidFill>
                <a:latin typeface="Microsoft YaHei"/>
              </a:rPr>
              <a:t>一条课程主线，两个学习场景。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CC"/>
                </a:solidFill>
                <a:latin typeface="Microsoft YaHei"/>
              </a:rPr>
              <a:t>课程 AI 教学平台是产品本体；医案/问诊陪练是其中一个高价值训练模块。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713232"/>
          </a:xfrm>
          <a:prstGeom prst="roundRect">
            <a:avLst/>
          </a:prstGeom>
          <a:solidFill>
            <a:srgbClr val="1E5A4A"/>
          </a:solidFill>
          <a:ln w="10160">
            <a:solidFill>
              <a:srgbClr val="477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89504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7C58F"/>
                </a:solidFill>
                <a:latin typeface="Microsoft YaHei"/>
              </a:rPr>
              <a:t>课程内容层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889504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DF8"/>
                </a:solidFill>
                <a:latin typeface="Microsoft YaHei"/>
              </a:rPr>
              <a:t>讲义 · 名师医案 · 课程视频 · 训练营任务 · FAQ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10712"/>
            <a:ext cx="0" cy="612648"/>
          </a:xfrm>
          <a:prstGeom prst="line">
            <a:avLst/>
          </a:prstGeom>
          <a:ln w="15240">
            <a:solidFill>
              <a:srgbClr val="D7C5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3410712"/>
            <a:ext cx="0" cy="612648"/>
          </a:xfrm>
          <a:prstGeom prst="line">
            <a:avLst/>
          </a:prstGeom>
          <a:ln w="15240">
            <a:solidFill>
              <a:srgbClr val="D7C5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66960" y="3410712"/>
            <a:ext cx="0" cy="612648"/>
          </a:xfrm>
          <a:prstGeom prst="line">
            <a:avLst/>
          </a:prstGeom>
          <a:ln w="15240">
            <a:solidFill>
              <a:srgbClr val="D7C5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4023360"/>
            <a:ext cx="3401568" cy="1234440"/>
          </a:xfrm>
          <a:prstGeom prst="roundRect">
            <a:avLst/>
          </a:prstGeom>
          <a:solidFill>
            <a:srgbClr val="C85D48"/>
          </a:solidFill>
          <a:ln w="10160">
            <a:solidFill>
              <a:srgbClr val="C8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793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DF8"/>
                </a:solidFill>
                <a:latin typeface="Microsoft YaHei"/>
              </a:rPr>
              <a:t>AI 课程助教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60857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DF8"/>
                </a:solidFill>
                <a:latin typeface="Microsoft YaHei"/>
              </a:rPr>
              <a:t>讲解、答疑、章节小测
适用于所有学员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023360"/>
            <a:ext cx="3401568" cy="1234440"/>
          </a:xfrm>
          <a:prstGeom prst="roundRect">
            <a:avLst/>
          </a:prstGeom>
          <a:solidFill>
            <a:srgbClr val="D7C58F"/>
          </a:solidFill>
          <a:ln w="10160">
            <a:solidFill>
              <a:srgbClr val="D7C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42793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3A32"/>
                </a:solidFill>
                <a:latin typeface="Microsoft YaHei"/>
              </a:rPr>
              <a:t>医案陪练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60857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03A32"/>
                </a:solidFill>
                <a:latin typeface="Microsoft YaHei"/>
              </a:rPr>
              <a:t>AI 扮演患者
训练四诊与辨证思路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4023360"/>
            <a:ext cx="3401568" cy="1234440"/>
          </a:xfrm>
          <a:prstGeom prst="roundRect">
            <a:avLst/>
          </a:prstGeom>
          <a:solidFill>
            <a:srgbClr val="6D9B86"/>
          </a:solidFill>
          <a:ln w="10160">
            <a:solidFill>
              <a:srgbClr val="6D9B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42793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DF8"/>
                </a:solidFill>
                <a:latin typeface="Microsoft YaHei"/>
              </a:rPr>
              <a:t>教师协作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60857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DF8"/>
                </a:solidFill>
                <a:latin typeface="Microsoft YaHei"/>
              </a:rPr>
              <a:t>审核反馈、看薄弱点
沉淀 Bad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5595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CC"/>
                </a:solidFill>
                <a:latin typeface="Microsoft YaHei"/>
              </a:rPr>
              <a:t>用户看到的是一套课程学习体验；系统内部按场景编排不同 Agent、检索和安全策略。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5D48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03 · 学习路径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3630"/>
                </a:solidFill>
                <a:latin typeface="Microsoft YaHei"/>
              </a:rPr>
              <a:t>把“学完一节课”变成一条闭环。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D7B73"/>
                </a:solidFill>
                <a:latin typeface="Microsoft YaHei"/>
              </a:rPr>
              <a:t>先帮助学员理解，再让学员主动练习，最后把反馈交给学员和老师。</a:t>
            </a:r>
          </a:p>
        </p:txBody>
      </p:sp>
      <p:sp>
        <p:nvSpPr>
          <p:cNvPr id="8" name="Oval 7"/>
          <p:cNvSpPr/>
          <p:nvPr/>
        </p:nvSpPr>
        <p:spPr>
          <a:xfrm>
            <a:off x="1243584" y="2743200"/>
            <a:ext cx="530352" cy="530352"/>
          </a:xfrm>
          <a:prstGeom prst="ellipse">
            <a:avLst/>
          </a:prstGeom>
          <a:solidFill>
            <a:srgbClr val="103A32"/>
          </a:solidFill>
          <a:ln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8663"/>
            <a:ext cx="530352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Microsoft YaHei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92224" y="3008376"/>
            <a:ext cx="1088136" cy="0"/>
          </a:xfrm>
          <a:prstGeom prst="line">
            <a:avLst/>
          </a:prstGeom>
          <a:ln w="1778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35844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630"/>
                </a:solidFill>
                <a:latin typeface="Microsoft YaHei"/>
              </a:rPr>
              <a:t>学懂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041648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按章节提问
AI 用课程资料讲清楚</a:t>
            </a:r>
          </a:p>
        </p:txBody>
      </p:sp>
      <p:sp>
        <p:nvSpPr>
          <p:cNvPr id="13" name="Oval 12"/>
          <p:cNvSpPr/>
          <p:nvPr/>
        </p:nvSpPr>
        <p:spPr>
          <a:xfrm>
            <a:off x="3456432" y="2743200"/>
            <a:ext cx="530352" cy="530352"/>
          </a:xfrm>
          <a:prstGeom prst="ellipse">
            <a:avLst/>
          </a:prstGeom>
          <a:solidFill>
            <a:srgbClr val="103A32"/>
          </a:solidFill>
          <a:ln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838663"/>
            <a:ext cx="530352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Microsoft YaHei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05072" y="3008376"/>
            <a:ext cx="1088136" cy="0"/>
          </a:xfrm>
          <a:prstGeom prst="line">
            <a:avLst/>
          </a:prstGeom>
          <a:ln w="1778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0" y="35844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630"/>
                </a:solidFill>
                <a:latin typeface="Microsoft YaHei"/>
              </a:rPr>
              <a:t>练习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4041648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生成小测与复习卡
检验是否真的理解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0" y="2743200"/>
            <a:ext cx="530352" cy="530352"/>
          </a:xfrm>
          <a:prstGeom prst="ellipse">
            <a:avLst/>
          </a:prstGeom>
          <a:solidFill>
            <a:srgbClr val="C85D48"/>
          </a:solidFill>
          <a:ln>
            <a:solidFill>
              <a:srgbClr val="C8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38663"/>
            <a:ext cx="530352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Microsoft YaHei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3008376"/>
            <a:ext cx="1088136" cy="0"/>
          </a:xfrm>
          <a:prstGeom prst="line">
            <a:avLst/>
          </a:prstGeom>
          <a:ln w="17780">
            <a:solidFill>
              <a:srgbClr val="C85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38928" y="35844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630"/>
                </a:solidFill>
                <a:latin typeface="Microsoft YaHei"/>
              </a:rPr>
              <a:t>陪练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4041648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进入医案
主动问诊、组织证据</a:t>
            </a:r>
          </a:p>
        </p:txBody>
      </p:sp>
      <p:sp>
        <p:nvSpPr>
          <p:cNvPr id="23" name="Oval 22"/>
          <p:cNvSpPr/>
          <p:nvPr/>
        </p:nvSpPr>
        <p:spPr>
          <a:xfrm>
            <a:off x="7882127" y="2743200"/>
            <a:ext cx="530352" cy="530352"/>
          </a:xfrm>
          <a:prstGeom prst="ellipse">
            <a:avLst/>
          </a:prstGeom>
          <a:solidFill>
            <a:srgbClr val="103A32"/>
          </a:solidFill>
          <a:ln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7" y="2838663"/>
            <a:ext cx="530352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Microsoft YaHei"/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0767" y="3008376"/>
            <a:ext cx="1088137" cy="0"/>
          </a:xfrm>
          <a:prstGeom prst="line">
            <a:avLst/>
          </a:prstGeom>
          <a:ln w="1778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51775" y="35844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630"/>
                </a:solidFill>
                <a:latin typeface="Microsoft YaHei"/>
              </a:rPr>
              <a:t>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1" y="4041648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指出遗漏与薄弱点
给出下一步复习</a:t>
            </a:r>
          </a:p>
        </p:txBody>
      </p:sp>
      <p:sp>
        <p:nvSpPr>
          <p:cNvPr id="28" name="Oval 27"/>
          <p:cNvSpPr/>
          <p:nvPr/>
        </p:nvSpPr>
        <p:spPr>
          <a:xfrm>
            <a:off x="10094976" y="2743200"/>
            <a:ext cx="530352" cy="530352"/>
          </a:xfrm>
          <a:prstGeom prst="ellipse">
            <a:avLst/>
          </a:prstGeom>
          <a:solidFill>
            <a:srgbClr val="103A32"/>
          </a:solidFill>
          <a:ln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4976" y="2838663"/>
            <a:ext cx="530352" cy="318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35844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630"/>
                </a:solidFill>
                <a:latin typeface="Microsoft YaHei"/>
              </a:rPr>
              <a:t>协作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199" y="4041648"/>
            <a:ext cx="18745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教师审核与干预
Bad Case 反哺课程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5285232"/>
            <a:ext cx="10607040" cy="457200"/>
          </a:xfrm>
          <a:prstGeom prst="roundRect">
            <a:avLst/>
          </a:prstGeom>
          <a:solidFill>
            <a:srgbClr val="F1E8D5"/>
          </a:solidFill>
          <a:ln w="10160">
            <a:solidFill>
              <a:srgbClr val="E4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43153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3A32"/>
                </a:solidFill>
                <a:latin typeface="Microsoft YaHei"/>
              </a:rPr>
              <a:t>核心变化：从“问 AI 得答案”，变成“学习行为被看见、被练习、被反馈”。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04 · 产品一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4C6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DF8"/>
                </a:solidFill>
                <a:latin typeface="Microsoft YaHei"/>
              </a:rPr>
              <a:t>AI 课程助教：让老师的内容可以被反复学习。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CC"/>
                </a:solidFill>
                <a:latin typeface="Microsoft YaHei"/>
              </a:rPr>
              <a:t>第一阶段面向一个课程主题，先验证“讲解 + 练习 + 来源”是否能降低重复答疑。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61488"/>
            <a:ext cx="4892040" cy="987552"/>
          </a:xfrm>
          <a:prstGeom prst="roundRect">
            <a:avLst/>
          </a:prstGeom>
          <a:solidFill>
            <a:srgbClr val="1E5A4A"/>
          </a:solidFill>
          <a:ln w="10160">
            <a:solidFill>
              <a:srgbClr val="4A7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6265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7C58F"/>
                </a:solidFill>
                <a:latin typeface="Microsoft YaHei"/>
              </a:rPr>
              <a:t>课程问答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926080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围绕章节内容回答，
每个答案带出处。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61488"/>
            <a:ext cx="4892040" cy="987552"/>
          </a:xfrm>
          <a:prstGeom prst="roundRect">
            <a:avLst/>
          </a:prstGeom>
          <a:solidFill>
            <a:srgbClr val="174A40"/>
          </a:solidFill>
          <a:ln w="10160">
            <a:solidFill>
              <a:srgbClr val="4A7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96265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DF8"/>
                </a:solidFill>
                <a:latin typeface="Microsoft YaHei"/>
              </a:rPr>
              <a:t>换一种说法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26080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根据学员基础，
把术语讲得更易懂。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59935"/>
            <a:ext cx="4892040" cy="987552"/>
          </a:xfrm>
          <a:prstGeom prst="roundRect">
            <a:avLst/>
          </a:prstGeom>
          <a:solidFill>
            <a:srgbClr val="174A40"/>
          </a:solidFill>
          <a:ln w="10160">
            <a:solidFill>
              <a:srgbClr val="4A7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3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DF8"/>
                </a:solidFill>
                <a:latin typeface="Microsoft YaHei"/>
              </a:rPr>
              <a:t>章节小测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224527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生成选择题、简答题
与复习卡。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059935"/>
            <a:ext cx="4892040" cy="987552"/>
          </a:xfrm>
          <a:prstGeom prst="roundRect">
            <a:avLst/>
          </a:prstGeom>
          <a:solidFill>
            <a:srgbClr val="174A40"/>
          </a:solidFill>
          <a:ln w="10160">
            <a:solidFill>
              <a:srgbClr val="4A7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61103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DF8"/>
                </a:solidFill>
                <a:latin typeface="Microsoft YaHei"/>
              </a:rPr>
              <a:t>复习路径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224527"/>
            <a:ext cx="2697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根据错题和薄弱点，
推荐下一章内容。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65099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7C58F"/>
                </a:solidFill>
                <a:latin typeface="Microsoft YaHei"/>
              </a:rPr>
              <a:t>示例：学员问“什么是四诊合参？”→ 课程资料检索 → 通俗解释 → 章节出处 → 课后小测。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5D48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05 · 产品二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3630"/>
                </a:solidFill>
                <a:latin typeface="Microsoft YaHei"/>
              </a:rPr>
              <a:t>医案陪练：把知识放进临床思维里。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D7B73"/>
                </a:solidFill>
                <a:latin typeface="Microsoft YaHei"/>
              </a:rPr>
              <a:t>它不是在线问诊产品，而是课程平台里的一门“主动问、主动想、再复盘”的训练课。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743200"/>
            <a:ext cx="3657600" cy="2560320"/>
          </a:xfrm>
          <a:prstGeom prst="rect">
            <a:avLst/>
          </a:prstGeom>
          <a:solidFill>
            <a:srgbClr val="FBF8EF"/>
          </a:solidFill>
          <a:ln w="10160">
            <a:solidFill>
              <a:srgbClr val="D8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85D48"/>
                </a:solidFill>
                <a:latin typeface="Microsoft YaHei"/>
              </a:rPr>
              <a:t>学员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93630"/>
                </a:solidFill>
                <a:latin typeface="Microsoft YaHei"/>
              </a:rPr>
              <a:t>“我想练习外感咳嗽医案，
现在应该先问什么？”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4515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主动提问 / 选择追问 / 提交判断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743200"/>
            <a:ext cx="3657600" cy="2560320"/>
          </a:xfrm>
          <a:prstGeom prst="rect">
            <a:avLst/>
          </a:prstGeom>
          <a:solidFill>
            <a:srgbClr val="103A32"/>
          </a:solidFill>
          <a:ln w="10160"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30175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7C58F"/>
                </a:solidFill>
                <a:latin typeface="Microsoft YaHei"/>
              </a:rPr>
              <a:t>AI 患者 + 教练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356616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DF8"/>
                </a:solidFill>
                <a:latin typeface="Microsoft YaHei"/>
              </a:rPr>
              <a:t>只按病例状态逐步透露信息，
不提前泄露标准答案。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464515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追问 → 来源 → 反馈 → 教师审核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4023360"/>
            <a:ext cx="3108960" cy="0"/>
          </a:xfrm>
          <a:prstGeom prst="line">
            <a:avLst/>
          </a:prstGeom>
          <a:ln w="27940">
            <a:solidFill>
              <a:srgbClr val="C85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66360" y="360273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四诊信息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431596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辨证依据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6327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630"/>
                </a:solidFill>
                <a:latin typeface="Microsoft YaHei"/>
              </a:rPr>
              <a:t>提交后才给反馈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6327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C85D48"/>
                </a:solidFill>
                <a:latin typeface="Microsoft YaHei"/>
              </a:rPr>
              <a:t>遇到处方、剂量、个体化诊疗请求 → 安全闸 + 教师/医生审核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06 · 产品差异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4C6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DF8"/>
                </a:solidFill>
                <a:latin typeface="Microsoft YaHei"/>
              </a:rPr>
              <a:t>为什么不是通用大模型套壳？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CC"/>
                </a:solidFill>
                <a:latin typeface="Microsoft YaHei"/>
              </a:rPr>
              <a:t>因为学习目标、知识来源、练习方式和安全边界都被产品化了。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7C58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7249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DF8"/>
                </a:solidFill>
                <a:latin typeface="Microsoft YaHei"/>
              </a:rPr>
              <a:t>有课程出处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310896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回答必须落到具体章节、讲义或老师医案，不只给一个看似合理的答案。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3867912"/>
            <a:ext cx="4553712" cy="0"/>
          </a:xfrm>
          <a:prstGeom prst="line">
            <a:avLst/>
          </a:prstGeom>
          <a:ln w="8890">
            <a:solidFill>
              <a:srgbClr val="356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36208" y="27432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7C58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272491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DF8"/>
                </a:solidFill>
                <a:latin typeface="Microsoft YaHei"/>
              </a:rPr>
              <a:t>有学习任务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310896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每次交互都服务于理解、练习或复习，不让聊天漫无目的地结束。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03136" y="3867912"/>
            <a:ext cx="4553712" cy="0"/>
          </a:xfrm>
          <a:prstGeom prst="line">
            <a:avLst/>
          </a:prstGeom>
          <a:ln w="8890">
            <a:solidFill>
              <a:srgbClr val="356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" y="42245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7C58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42062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DF8"/>
                </a:solidFill>
                <a:latin typeface="Microsoft YaHei"/>
              </a:rPr>
              <a:t>有过程反馈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459028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评价学员问了什么、遗漏了什么、证据链是否完整，而不是只评价一句话。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16736" y="5349240"/>
            <a:ext cx="4553712" cy="0"/>
          </a:xfrm>
          <a:prstGeom prst="line">
            <a:avLst/>
          </a:prstGeom>
          <a:ln w="8890">
            <a:solidFill>
              <a:srgbClr val="356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36208" y="42245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7C58F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42062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DF8"/>
                </a:solidFill>
                <a:latin typeface="Microsoft YaHei"/>
              </a:rPr>
              <a:t>有教师入口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459028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高风险内容和 AI 草稿进入人工审核，教师可以看到问题分布并反哺课程。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03136" y="5349240"/>
            <a:ext cx="4553712" cy="0"/>
          </a:xfrm>
          <a:prstGeom prst="line">
            <a:avLst/>
          </a:prstGeom>
          <a:ln w="8890">
            <a:solidFill>
              <a:srgbClr val="356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5D48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07 · 技术落地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3630"/>
                </a:solidFill>
                <a:latin typeface="Microsoft YaHei"/>
              </a:rPr>
              <a:t>AI 能力不是一个模型，而是一条可观察的工作流。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D7B73"/>
                </a:solidFill>
                <a:latin typeface="Microsoft YaHei"/>
              </a:rPr>
              <a:t>我会把课程内容、业务规则和模型能力拆开，先做可运行 MVP，再按真实数据迭代。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10149840" cy="512064"/>
          </a:xfrm>
          <a:prstGeom prst="roundRect">
            <a:avLst/>
          </a:prstGeom>
          <a:solidFill>
            <a:srgbClr val="E9DFC9"/>
          </a:solidFill>
          <a:ln w="10160">
            <a:solidFill>
              <a:srgbClr val="E9D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6148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3A32"/>
                </a:solidFill>
                <a:latin typeface="Microsoft YaHei"/>
              </a:rPr>
              <a:t>内容层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61488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93630"/>
                </a:solidFill>
                <a:latin typeface="Microsoft YaHei"/>
              </a:rPr>
              <a:t>课程资料 / 医案 / FAQ / 题库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7614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可审校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00984"/>
            <a:ext cx="10149840" cy="512064"/>
          </a:xfrm>
          <a:prstGeom prst="roundRect">
            <a:avLst/>
          </a:prstGeom>
          <a:solidFill>
            <a:srgbClr val="DCE8D9"/>
          </a:solidFill>
          <a:ln w="10160">
            <a:solidFill>
              <a:srgbClr val="DCE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45643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3A32"/>
                </a:solidFill>
                <a:latin typeface="Microsoft YaHei"/>
              </a:rPr>
              <a:t>检索层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456432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93630"/>
                </a:solidFill>
                <a:latin typeface="Microsoft YaHei"/>
              </a:rPr>
              <a:t>向量 + 关键词混合检索，保留出处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45643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可引用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95928"/>
            <a:ext cx="10149840" cy="512064"/>
          </a:xfrm>
          <a:prstGeom prst="roundRect">
            <a:avLst/>
          </a:prstGeom>
          <a:solidFill>
            <a:srgbClr val="D9E2E5"/>
          </a:solidFill>
          <a:ln w="10160">
            <a:solidFill>
              <a:srgbClr val="D9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151376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3A32"/>
                </a:solidFill>
                <a:latin typeface="Microsoft YaHei"/>
              </a:rPr>
              <a:t>编排层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151376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93630"/>
                </a:solidFill>
                <a:latin typeface="Microsoft YaHei"/>
              </a:rPr>
              <a:t>分流 → 检索 → 教练/答疑 → 安全审核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415137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可追踪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90872"/>
            <a:ext cx="10149840" cy="512064"/>
          </a:xfrm>
          <a:prstGeom prst="roundRect">
            <a:avLst/>
          </a:prstGeom>
          <a:solidFill>
            <a:srgbClr val="F0D8CF"/>
          </a:solidFill>
          <a:ln w="10160">
            <a:solidFill>
              <a:srgbClr val="F0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84632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3A32"/>
                </a:solidFill>
                <a:latin typeface="Microsoft YaHei"/>
              </a:rPr>
              <a:t>产品层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846320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93630"/>
                </a:solidFill>
                <a:latin typeface="Microsoft YaHei"/>
              </a:rPr>
              <a:t>课程页 / 练习页 / 教师审核 / App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484632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可接入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5961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5D48"/>
                </a:solidFill>
                <a:latin typeface="Microsoft YaHei"/>
              </a:rPr>
              <a:t>工程证据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577840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React + FastAPI + Agent/RAG + SSE；本地 Trace 可展示节点、耗时、Token（精确或估算标注）；Embedding Key 通过会话级配置传入。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08 · 0→1 计划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4C6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DF8"/>
                </a:solidFill>
                <a:latin typeface="Microsoft YaHei"/>
              </a:rPr>
              <a:t>先跑通一门课，再扩成平台。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CC"/>
                </a:solidFill>
                <a:latin typeface="Microsoft YaHei"/>
              </a:rPr>
              <a:t>首期不做全量课程、完整 App 重构和自动诊疗，把边界留给真正的验证。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2743200"/>
            <a:ext cx="3310128" cy="2240280"/>
          </a:xfrm>
          <a:prstGeom prst="roundRect">
            <a:avLst/>
          </a:prstGeom>
          <a:solidFill>
            <a:srgbClr val="1E5A4A"/>
          </a:solidFill>
          <a:ln w="10160">
            <a:solidFill>
              <a:srgbClr val="46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2999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7C58F"/>
                </a:solidFill>
                <a:latin typeface="Microsoft YaHei"/>
              </a:rPr>
              <a:t>0—30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40156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DF8"/>
                </a:solidFill>
                <a:latin typeface="Microsoft YaHei"/>
              </a:rPr>
              <a:t>找场景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95020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访谈讲师、班主任和学员
选一个高频课程主题
整理版权、权限和评测集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743200"/>
            <a:ext cx="3310128" cy="2240280"/>
          </a:xfrm>
          <a:prstGeom prst="roundRect">
            <a:avLst/>
          </a:prstGeom>
          <a:solidFill>
            <a:srgbClr val="1E5A4A"/>
          </a:solidFill>
          <a:ln w="10160">
            <a:solidFill>
              <a:srgbClr val="46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999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7C58F"/>
                </a:solidFill>
                <a:latin typeface="Microsoft YaHei"/>
              </a:rPr>
              <a:t>31—60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40156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DF8"/>
                </a:solidFill>
                <a:latin typeface="Microsoft YaHei"/>
              </a:rPr>
              <a:t>做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95020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课程问答 + 小测 + 一套医案
来源引用、人工审核
内部训练营试用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743200"/>
            <a:ext cx="3310128" cy="2240280"/>
          </a:xfrm>
          <a:prstGeom prst="roundRect">
            <a:avLst/>
          </a:prstGeom>
          <a:solidFill>
            <a:srgbClr val="1E5A4A"/>
          </a:solidFill>
          <a:ln w="10160">
            <a:solidFill>
              <a:srgbClr val="467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99923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7C58F"/>
                </a:solidFill>
                <a:latin typeface="Microsoft YaHei"/>
              </a:rPr>
              <a:t>61—90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40156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DF8"/>
                </a:solidFill>
                <a:latin typeface="Microsoft YaHei"/>
              </a:rPr>
              <a:t>看数据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5020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小范围学员试用
看答疑时间、采纳率、转人工
再决定 App / 企微 / 小程序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513832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7C58F"/>
                </a:solidFill>
                <a:latin typeface="Microsoft YaHei"/>
              </a:rPr>
              <a:t>验证指标：重复问题减少量 · 班主任答疑时间 · 有来源回答比例 · 教师采纳率 · 转人工比例 · 练习完成率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5D48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09 · 现场演示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3630"/>
                </a:solidFill>
                <a:latin typeface="Microsoft YaHei"/>
              </a:rPr>
              <a:t>5 分钟演示：让业务看到“能跑、能解释、能迭代”。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D7B73"/>
                </a:solidFill>
                <a:latin typeface="Microsoft YaHei"/>
              </a:rPr>
              <a:t>不临时开发完整 App，先用现有原型展示一条可信的课程学习链路。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103A32"/>
          </a:solidFill>
          <a:ln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7121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DF8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630"/>
                </a:solidFill>
                <a:latin typeface="Microsoft YaHei"/>
              </a:rPr>
              <a:t>课程提问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68496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问：这一章的核心方法是什么？
展示课程来源和通俗解释。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89888" y="3017520"/>
            <a:ext cx="1901951" cy="0"/>
          </a:xfrm>
          <a:prstGeom prst="line">
            <a:avLst/>
          </a:prstGeom>
          <a:ln w="1651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20439" y="2788920"/>
            <a:ext cx="457200" cy="457200"/>
          </a:xfrm>
          <a:prstGeom prst="ellipse">
            <a:avLst/>
          </a:prstGeom>
          <a:solidFill>
            <a:srgbClr val="103A32"/>
          </a:solidFill>
          <a:ln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87121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DF8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34930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630"/>
                </a:solidFill>
                <a:latin typeface="Microsoft YaHei"/>
              </a:rPr>
              <a:t>进入医案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3968496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换季咳嗽合成医案。
AI 先追问，学员可点选或补充。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78807" y="3017520"/>
            <a:ext cx="1901952" cy="0"/>
          </a:xfrm>
          <a:prstGeom prst="line">
            <a:avLst/>
          </a:prstGeom>
          <a:ln w="1651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309359" y="2788920"/>
            <a:ext cx="457200" cy="457200"/>
          </a:xfrm>
          <a:prstGeom prst="ellipse">
            <a:avLst/>
          </a:prstGeom>
          <a:solidFill>
            <a:srgbClr val="103A32"/>
          </a:solidFill>
          <a:ln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87121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DF8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4930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630"/>
                </a:solidFill>
                <a:latin typeface="Microsoft YaHei"/>
              </a:rPr>
              <a:t>提交判断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968496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学员说明依据。
系统展示遗漏和临床思维反馈。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67727" y="3017520"/>
            <a:ext cx="1901953" cy="0"/>
          </a:xfrm>
          <a:prstGeom prst="line">
            <a:avLst/>
          </a:prstGeom>
          <a:ln w="1651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098280" y="2788920"/>
            <a:ext cx="457200" cy="457200"/>
          </a:xfrm>
          <a:prstGeom prst="ellipse">
            <a:avLst/>
          </a:prstGeom>
          <a:solidFill>
            <a:srgbClr val="C85D48"/>
          </a:solidFill>
          <a:ln>
            <a:solidFill>
              <a:srgbClr val="C8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87121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DF8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4930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630"/>
                </a:solidFill>
                <a:latin typeface="Microsoft YaHei"/>
              </a:rPr>
              <a:t>触发审核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968496"/>
            <a:ext cx="2240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D7B73"/>
                </a:solidFill>
                <a:latin typeface="Microsoft YaHei"/>
              </a:rPr>
              <a:t>要求开方/剂量。
安全闸转教师审核，不越界。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66944"/>
            <a:ext cx="10744200" cy="512064"/>
          </a:xfrm>
          <a:prstGeom prst="roundRect">
            <a:avLst/>
          </a:prstGeom>
          <a:solidFill>
            <a:srgbClr val="F1E8D5"/>
          </a:solidFill>
          <a:ln w="10160">
            <a:solidFill>
              <a:srgbClr val="E4D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44068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C85D48"/>
                </a:solidFill>
                <a:latin typeface="Microsoft YaHei"/>
              </a:rPr>
              <a:t>现场口径：当前使用合成资料和 Mock 外部系统，展示的是产品流程与工程能力，不冒充正式生产医疗系统。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10 · 需求不足时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4C6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DF8"/>
                </a:solidFill>
                <a:latin typeface="Microsoft YaHei"/>
              </a:rPr>
              <a:t>需求还不完整时，先把方向变成可验证的 MVP。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CC"/>
                </a:solidFill>
                <a:latin typeface="Microsoft YaHei"/>
              </a:rPr>
              <a:t>不假设全量课程、完整 App 和学习效果已经定义，先补齐最小决策信息。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143000" cy="502920"/>
          </a:xfrm>
          <a:prstGeom prst="roundRect">
            <a:avLst/>
          </a:prstGeom>
          <a:solidFill>
            <a:srgbClr val="C85D48"/>
          </a:solidFill>
          <a:ln w="10160">
            <a:solidFill>
              <a:srgbClr val="C8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25496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DF8"/>
                </a:solidFill>
                <a:latin typeface="Microsoft YaHei"/>
              </a:rPr>
              <a:t>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7249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7C58F"/>
                </a:solidFill>
                <a:latin typeface="Microsoft YaHei"/>
              </a:rPr>
              <a:t>先服务谁？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724912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访谈学员、老师和班主任，按频次与耗时选场景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74136"/>
            <a:ext cx="1143000" cy="502920"/>
          </a:xfrm>
          <a:prstGeom prst="roundRect">
            <a:avLst/>
          </a:prstGeom>
          <a:solidFill>
            <a:srgbClr val="C85D48"/>
          </a:solidFill>
          <a:ln w="10160">
            <a:solidFill>
              <a:srgbClr val="C8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DF8"/>
                </a:solidFill>
                <a:latin typeface="Microsoft YaHei"/>
              </a:rPr>
              <a:t>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34290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7C58F"/>
                </a:solidFill>
                <a:latin typeface="Microsoft YaHei"/>
              </a:rPr>
              <a:t>哪些资料能用？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42900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先用一门授权课程和合成医案建立边界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78224"/>
            <a:ext cx="1143000" cy="502920"/>
          </a:xfrm>
          <a:prstGeom prst="roundRect">
            <a:avLst/>
          </a:prstGeom>
          <a:solidFill>
            <a:srgbClr val="C85D48"/>
          </a:solidFill>
          <a:ln w="10160">
            <a:solidFill>
              <a:srgbClr val="C8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3367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DF8"/>
                </a:solidFill>
                <a:latin typeface="Microsoft YaHei"/>
              </a:rPr>
              <a:t>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4133087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7C58F"/>
                </a:solidFill>
                <a:latin typeface="Microsoft YaHei"/>
              </a:rPr>
              <a:t>什么叫有效？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133087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先记录答疑时间、练习完成、教师采纳等基线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82312"/>
            <a:ext cx="1143000" cy="502920"/>
          </a:xfrm>
          <a:prstGeom prst="roundRect">
            <a:avLst/>
          </a:prstGeom>
          <a:solidFill>
            <a:srgbClr val="C85D48"/>
          </a:solidFill>
          <a:ln w="10160">
            <a:solidFill>
              <a:srgbClr val="C85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DF8"/>
                </a:solidFill>
                <a:latin typeface="Microsoft YaHei"/>
              </a:rPr>
              <a:t>渠道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83717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7C58F"/>
                </a:solidFill>
                <a:latin typeface="Microsoft YaHei"/>
              </a:rPr>
              <a:t>是否马上做 App？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837176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6CC"/>
                </a:solidFill>
                <a:latin typeface="Microsoft YaHei"/>
              </a:rPr>
              <a:t>先用 Web/H5 + API 验证闭环，再排接入优先级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5623560"/>
            <a:ext cx="10607040" cy="0"/>
          </a:xfrm>
          <a:prstGeom prst="line">
            <a:avLst/>
          </a:prstGeom>
          <a:ln w="10160">
            <a:solidFill>
              <a:srgbClr val="477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6384" y="5760720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7C58F"/>
                </a:solidFill>
                <a:latin typeface="Microsoft YaHei"/>
              </a:rPr>
              <a:t>默认首期：一个课程主题 + 章节练习 + 一套医案 + 训练反馈 + 教师审核。两周内先验证是否值得扩展。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5D48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11 · 边界与替代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93630"/>
                </a:solidFill>
                <a:latin typeface="Microsoft YaHei"/>
              </a:rPr>
              <a:t>不能直接做的能力，也要给出解决路径。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D7B73"/>
                </a:solidFill>
                <a:latin typeface="Microsoft YaHei"/>
              </a:rPr>
              <a:t>把“当前缺口、Demo 替代、正式方案”分开说清楚，避免把概念当成已交付功能。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当前不能直接做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87168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248716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Demo 替代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248716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5D48"/>
                </a:solidFill>
                <a:latin typeface="Microsoft YaHei"/>
              </a:rPr>
              <a:t>正式方案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2816352"/>
            <a:ext cx="10634472" cy="0"/>
          </a:xfrm>
          <a:prstGeom prst="line">
            <a:avLst/>
          </a:prstGeom>
          <a:ln w="1016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999232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3630"/>
                </a:solidFill>
                <a:latin typeface="Microsoft YaHei"/>
              </a:rPr>
              <a:t>真实课程 AI 导师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99923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93630"/>
                </a:solidFill>
                <a:latin typeface="Microsoft YaHei"/>
              </a:rPr>
              <a:t>缺课程原文/授权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999232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93630"/>
                </a:solidFill>
                <a:latin typeface="Microsoft YaHei"/>
              </a:rPr>
              <a:t>固定演示资料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99923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93630"/>
                </a:solidFill>
                <a:latin typeface="Microsoft YaHei"/>
              </a:rPr>
              <a:t>上传解析、知识单元审核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3438144"/>
            <a:ext cx="10634472" cy="0"/>
          </a:xfrm>
          <a:prstGeom prst="line">
            <a:avLst/>
          </a:prstGeom>
          <a:ln w="6985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3621024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7B73"/>
                </a:solidFill>
                <a:latin typeface="Microsoft YaHei"/>
              </a:rPr>
              <a:t>长期能力画像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62102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7B73"/>
                </a:solidFill>
                <a:latin typeface="Microsoft YaHei"/>
              </a:rPr>
              <a:t>缺训练记录/量表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3621024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7B73"/>
                </a:solidFill>
                <a:latin typeface="Microsoft YaHei"/>
              </a:rPr>
              <a:t>单次训练报告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621024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7B73"/>
                </a:solidFill>
                <a:latin typeface="Microsoft YaHei"/>
              </a:rPr>
              <a:t>服务端记录 + 教师校准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4059935"/>
            <a:ext cx="10634472" cy="0"/>
          </a:xfrm>
          <a:prstGeom prst="line">
            <a:avLst/>
          </a:prstGeom>
          <a:ln w="6985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4242816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3630"/>
                </a:solidFill>
                <a:latin typeface="Microsoft YaHei"/>
              </a:rPr>
              <a:t>正式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242816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93630"/>
                </a:solidFill>
                <a:latin typeface="Microsoft YaHei"/>
              </a:rPr>
              <a:t>缺登录/接口契约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4242816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93630"/>
                </a:solidFill>
                <a:latin typeface="Microsoft YaHei"/>
              </a:rPr>
              <a:t>Web/H5 + API/SSE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4242816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93630"/>
                </a:solidFill>
                <a:latin typeface="Microsoft YaHei"/>
              </a:rPr>
              <a:t>账号、课程、消息、报告接口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" y="4681727"/>
            <a:ext cx="10634472" cy="0"/>
          </a:xfrm>
          <a:prstGeom prst="line">
            <a:avLst/>
          </a:prstGeom>
          <a:ln w="6985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808" y="4864608"/>
            <a:ext cx="2514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7B73"/>
                </a:solidFill>
                <a:latin typeface="Microsoft YaHei"/>
              </a:rPr>
              <a:t>自动处方诊疗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864608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7B73"/>
                </a:solidFill>
                <a:latin typeface="Microsoft YaHei"/>
              </a:rPr>
              <a:t>安全与合规边界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4864608"/>
            <a:ext cx="2331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7B73"/>
                </a:solidFill>
                <a:latin typeface="Microsoft YaHei"/>
              </a:rPr>
              <a:t>安全闸 + 人工审核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4864608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7B73"/>
                </a:solidFill>
                <a:latin typeface="Microsoft YaHei"/>
              </a:rPr>
              <a:t>教学解释与医师审核流程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5303520"/>
            <a:ext cx="10634472" cy="0"/>
          </a:xfrm>
          <a:prstGeom prst="line">
            <a:avLst/>
          </a:prstGeom>
          <a:ln w="6985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8096" y="5669280"/>
            <a:ext cx="10469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85D48"/>
                </a:solidFill>
                <a:latin typeface="Microsoft YaHei"/>
              </a:rPr>
              <a:t>原则：缺真实资料就先做授权演示；缺历史数据就先做单次报告；缺接口就先验证 Web 闭环；高风险内容始终人工优先。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7C58F"/>
                </a:solidFill>
                <a:latin typeface="Microsoft YaHei"/>
              </a:rPr>
              <a:t>12 · 岗位边界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4C6C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868680"/>
            <a:ext cx="74980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DF8"/>
                </a:solidFill>
                <a:latin typeface="Microsoft YaHei"/>
              </a:rPr>
              <a:t>我可以承担 0→1，但不会盲目承诺单人包办。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8366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CC"/>
                </a:solidFill>
                <a:latin typeface="Microsoft YaHei"/>
              </a:rPr>
              <a:t>先对结果负责，再把需要协作的边界讲清楚，反而更适合早期项目。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43200"/>
            <a:ext cx="5166360" cy="2423160"/>
          </a:xfrm>
          <a:prstGeom prst="roundRect">
            <a:avLst/>
          </a:prstGeom>
          <a:solidFill>
            <a:srgbClr val="1E5A4A"/>
          </a:solidFill>
          <a:ln w="10160">
            <a:solidFill>
              <a:srgbClr val="477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063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7C58F"/>
                </a:solidFill>
                <a:latin typeface="Microsoft YaHei"/>
              </a:rPr>
              <a:t>我可以独立负责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584448"/>
            <a:ext cx="42976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DF8"/>
                </a:solidFill>
                <a:latin typeface="Microsoft YaHei"/>
              </a:rPr>
              <a:t>场景调研与 MVP 定义
AI 应用层：RAG、Agent、提示词、接口
前端原型、流式体验、部署与 Trace
评测集、Bad Case 和迭代文档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743200"/>
            <a:ext cx="5166360" cy="2423160"/>
          </a:xfrm>
          <a:prstGeom prst="roundRect">
            <a:avLst/>
          </a:prstGeom>
          <a:solidFill>
            <a:srgbClr val="174A40"/>
          </a:solidFill>
          <a:ln w="10160">
            <a:solidFill>
              <a:srgbClr val="477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3063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7C58F"/>
                </a:solidFill>
                <a:latin typeface="Microsoft YaHei"/>
              </a:rPr>
              <a:t>正式上线需要协作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584448"/>
            <a:ext cx="42976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7D6CC"/>
                </a:solidFill>
                <a:latin typeface="Microsoft YaHei"/>
              </a:rPr>
              <a:t>App 正式接入与账号体系
数据治理、运维、成本与安全
中医教师审核与课程版权
规模化并发和产品运营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577840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7C58F"/>
                </a:solidFill>
                <a:latin typeface="Microsoft YaHei"/>
              </a:rPr>
              <a:t>岗位沟通：如果职责是 AI 方向从 0 到 1，我期望转正 25K 左右；具体可结合首期目标、资源和绩效机制沟通。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85D48"/>
                </a:solidFill>
                <a:latin typeface="Microsoft YaHei"/>
              </a:rPr>
              <a:t>华医世界 · 中医课程 AI 产品方案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926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D7B73"/>
                </a:solidFill>
                <a:latin typeface="Microsoft YaHei"/>
              </a:rPr>
              <a:t>13 · 结论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245352"/>
            <a:ext cx="11183112" cy="0"/>
          </a:xfrm>
          <a:prstGeom prst="line">
            <a:avLst/>
          </a:prstGeom>
          <a:ln w="8890">
            <a:solidFill>
              <a:srgbClr val="D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078992"/>
            <a:ext cx="66751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93630"/>
                </a:solidFill>
                <a:latin typeface="Microsoft YaHei"/>
              </a:rPr>
              <a:t>先做一门课，
再做一套学习系统。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34640"/>
            <a:ext cx="6126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D7B73"/>
                </a:solidFill>
                <a:latin typeface="Microsoft YaHei"/>
              </a:rPr>
              <a:t>对华医世界，我建议首个产品从“课程 AI 助教 + 一套医案陪练”开始：
范围可控、能快速上线、能被真实学员使用，也能为后续 App 产品化留下接口。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234440"/>
            <a:ext cx="3566160" cy="3383280"/>
          </a:xfrm>
          <a:prstGeom prst="roundRect">
            <a:avLst/>
          </a:prstGeom>
          <a:solidFill>
            <a:srgbClr val="103A32"/>
          </a:solidFill>
          <a:ln w="10160">
            <a:solidFill>
              <a:srgbClr val="10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69164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DF8"/>
                </a:solidFill>
                <a:latin typeface="Microsoft YaHei"/>
              </a:rPr>
              <a:t>课程资料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D7C58F"/>
                </a:solidFill>
                <a:latin typeface="Microsoft YaHei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2487168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DF8"/>
                </a:solidFill>
                <a:latin typeface="Microsoft YaHei"/>
              </a:rPr>
              <a:t>AI 讲解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898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D7C58F"/>
                </a:solidFill>
                <a:latin typeface="Microsoft YaHe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0144" y="3282696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DF8"/>
                </a:solidFill>
                <a:latin typeface="Microsoft YaHei"/>
              </a:rPr>
              <a:t>医案练习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6941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D7C58F"/>
                </a:solidFill>
                <a:latin typeface="Microsoft YaHei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40782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7C58F"/>
                </a:solidFill>
                <a:latin typeface="Microsoft YaHei"/>
              </a:rPr>
              <a:t>反馈与教师审核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0527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5D48"/>
                </a:solidFill>
                <a:latin typeface="Microsoft YaHei"/>
              </a:rPr>
              <a:t>谢谢 / 欢迎现场演示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